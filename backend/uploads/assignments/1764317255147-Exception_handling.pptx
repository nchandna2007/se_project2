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259" r:id="rId4"/>
    <p:sldId id="260" r:id="rId5"/>
    <p:sldId id="262" r:id="rId6"/>
    <p:sldId id="307" r:id="rId7"/>
    <p:sldId id="308" r:id="rId8"/>
    <p:sldId id="310" r:id="rId9"/>
    <p:sldId id="312" r:id="rId10"/>
    <p:sldId id="313" r:id="rId11"/>
    <p:sldId id="314" r:id="rId12"/>
    <p:sldId id="315" r:id="rId13"/>
    <p:sldId id="316" r:id="rId14"/>
    <p:sldId id="317" r:id="rId15"/>
    <p:sldId id="263" r:id="rId16"/>
    <p:sldId id="264" r:id="rId17"/>
    <p:sldId id="287" r:id="rId18"/>
    <p:sldId id="266" r:id="rId19"/>
    <p:sldId id="261" r:id="rId20"/>
    <p:sldId id="286" r:id="rId21"/>
    <p:sldId id="267" r:id="rId22"/>
    <p:sldId id="268" r:id="rId23"/>
    <p:sldId id="293" r:id="rId24"/>
    <p:sldId id="294" r:id="rId25"/>
    <p:sldId id="303" r:id="rId26"/>
    <p:sldId id="304" r:id="rId27"/>
    <p:sldId id="305" r:id="rId28"/>
    <p:sldId id="291" r:id="rId29"/>
    <p:sldId id="296" r:id="rId30"/>
    <p:sldId id="295" r:id="rId31"/>
    <p:sldId id="269" r:id="rId32"/>
    <p:sldId id="290" r:id="rId33"/>
    <p:sldId id="297" r:id="rId34"/>
    <p:sldId id="298" r:id="rId35"/>
    <p:sldId id="301" r:id="rId36"/>
    <p:sldId id="302" r:id="rId37"/>
    <p:sldId id="280" r:id="rId38"/>
    <p:sldId id="281" r:id="rId39"/>
    <p:sldId id="306" r:id="rId40"/>
    <p:sldId id="288" r:id="rId41"/>
    <p:sldId id="289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24" autoAdjust="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47BAD-3E6A-4026-A663-CC399D8E6E9E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8BDF7-B563-4075-8CE2-E19C522E5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26781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8BDF7-B563-4075-8CE2-E19C522E57B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49058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8BDF7-B563-4075-8CE2-E19C522E57B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4045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1340768"/>
            <a:ext cx="9000000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8453C-2510-4104-AF7F-91CF8D0C6DDD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EXCEPTION </a:t>
            </a:r>
            <a:r>
              <a:rPr lang="en-US" b="1" dirty="0"/>
              <a:t>HANDLING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68" y="188640"/>
            <a:ext cx="9000000" cy="936104"/>
          </a:xfrm>
        </p:spPr>
        <p:txBody>
          <a:bodyPr>
            <a:normAutofit fontScale="90000"/>
          </a:bodyPr>
          <a:lstStyle/>
          <a:p>
            <a:r>
              <a:rPr lang="en-US" dirty="0"/>
              <a:t>EXCEPTIONS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00" y="1052736"/>
            <a:ext cx="9000000" cy="4968552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Exceptions </a:t>
            </a:r>
            <a:r>
              <a:rPr lang="en-US" sz="2800" dirty="0"/>
              <a:t>are run time anomalies or </a:t>
            </a:r>
            <a:r>
              <a:rPr lang="en-US" sz="2800" dirty="0" smtClean="0"/>
              <a:t>unusual conditions </a:t>
            </a:r>
            <a:r>
              <a:rPr lang="en-US" sz="2800" dirty="0"/>
              <a:t>that a program may encounter </a:t>
            </a:r>
            <a:r>
              <a:rPr lang="en-US" sz="2800" dirty="0" smtClean="0"/>
              <a:t>during execution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 Conditions such as</a:t>
            </a:r>
          </a:p>
          <a:p>
            <a:pPr lvl="1" algn="just"/>
            <a:r>
              <a:rPr lang="en-US" sz="2400" dirty="0"/>
              <a:t> Division by zero</a:t>
            </a:r>
          </a:p>
          <a:p>
            <a:pPr lvl="1" algn="just"/>
            <a:r>
              <a:rPr lang="en-US" sz="2400" dirty="0"/>
              <a:t> Access to an array outside of its bounds</a:t>
            </a:r>
          </a:p>
          <a:p>
            <a:pPr lvl="1" algn="just"/>
            <a:r>
              <a:rPr lang="en-US" sz="2400" dirty="0"/>
              <a:t> Running out of memory</a:t>
            </a:r>
          </a:p>
          <a:p>
            <a:pPr lvl="1" algn="just"/>
            <a:r>
              <a:rPr lang="en-US" sz="2400" dirty="0"/>
              <a:t> Running out of disk space</a:t>
            </a:r>
          </a:p>
          <a:p>
            <a:pPr algn="just"/>
            <a:r>
              <a:rPr lang="en-US" sz="2800" dirty="0"/>
              <a:t> It was not a part of original C++.</a:t>
            </a:r>
          </a:p>
          <a:p>
            <a:pPr algn="just"/>
            <a:r>
              <a:rPr lang="en-US" sz="2800" dirty="0"/>
              <a:t> It is a new feature added to ANSI C++.</a:t>
            </a:r>
            <a:endParaRPr lang="en-IN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196752"/>
            <a:ext cx="9000000" cy="5328592"/>
          </a:xfrm>
        </p:spPr>
        <p:txBody>
          <a:bodyPr>
            <a:normAutofit/>
          </a:bodyPr>
          <a:lstStyle/>
          <a:p>
            <a:r>
              <a:rPr lang="en-US" dirty="0"/>
              <a:t> Exceptions are of 2 </a:t>
            </a:r>
            <a:r>
              <a:rPr lang="en-US" dirty="0" smtClean="0"/>
              <a:t>kinds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Synchronous Exception:</a:t>
            </a:r>
          </a:p>
          <a:p>
            <a:pPr lvl="2"/>
            <a:r>
              <a:rPr lang="en-US" dirty="0"/>
              <a:t> Out of </a:t>
            </a:r>
            <a:r>
              <a:rPr lang="en-US" dirty="0" smtClean="0"/>
              <a:t>range index</a:t>
            </a:r>
            <a:endParaRPr lang="en-US" dirty="0"/>
          </a:p>
          <a:p>
            <a:pPr lvl="2"/>
            <a:r>
              <a:rPr lang="en-US" dirty="0"/>
              <a:t> Over flow</a:t>
            </a:r>
          </a:p>
          <a:p>
            <a:pPr lvl="1"/>
            <a:r>
              <a:rPr lang="en-US" dirty="0"/>
              <a:t> Asynchronous Exception: Error that are caused by</a:t>
            </a:r>
          </a:p>
          <a:p>
            <a:pPr marL="457200" lvl="1" indent="0">
              <a:buNone/>
            </a:pPr>
            <a:r>
              <a:rPr lang="en-US" dirty="0" smtClean="0"/>
              <a:t>     events </a:t>
            </a:r>
            <a:r>
              <a:rPr lang="en-US" dirty="0"/>
              <a:t>beyond the control of the program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Keyboard </a:t>
            </a:r>
            <a:r>
              <a:rPr lang="en-US" dirty="0" smtClean="0"/>
              <a:t>interrupts</a:t>
            </a:r>
          </a:p>
          <a:p>
            <a:pPr lvl="2"/>
            <a:endParaRPr lang="en-US" dirty="0" smtClean="0"/>
          </a:p>
          <a:p>
            <a:pPr algn="just"/>
            <a:r>
              <a:rPr lang="en-US" dirty="0" smtClean="0"/>
              <a:t>In C++ </a:t>
            </a:r>
            <a:r>
              <a:rPr lang="en-US" dirty="0"/>
              <a:t>only synchronous exception can </a:t>
            </a:r>
            <a:r>
              <a:rPr lang="en-US" dirty="0" smtClean="0"/>
              <a:t>be handled.</a:t>
            </a:r>
          </a:p>
          <a:p>
            <a:pPr algn="just"/>
            <a:endParaRPr lang="en-US" sz="4000" dirty="0"/>
          </a:p>
        </p:txBody>
      </p:sp>
    </p:spTree>
    <p:extLst>
      <p:ext uri="{BB962C8B-B14F-4D97-AF65-F5344CB8AC3E}">
        <p14:creationId xmlns="" xmlns:p14="http://schemas.microsoft.com/office/powerpoint/2010/main" val="12666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</a:t>
            </a:r>
            <a:r>
              <a:rPr lang="en-US" dirty="0" smtClean="0"/>
              <a:t>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124744"/>
            <a:ext cx="9000000" cy="5544616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Exception </a:t>
            </a:r>
            <a:r>
              <a:rPr lang="en-US" dirty="0"/>
              <a:t>handling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Can resolve exceptions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Allow a program to continue executing or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Notify the user of the problem and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Terminate the program in a controlled manner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Makes programs robust and fault-tolerant</a:t>
            </a:r>
          </a:p>
          <a:p>
            <a:pPr algn="just"/>
            <a:r>
              <a:rPr lang="en-US" dirty="0"/>
              <a:t>Exception handling mechanism</a:t>
            </a:r>
          </a:p>
          <a:p>
            <a:pPr lvl="1" algn="just"/>
            <a:r>
              <a:rPr lang="en-US" dirty="0" smtClean="0"/>
              <a:t> </a:t>
            </a:r>
            <a:r>
              <a:rPr lang="en-US" dirty="0"/>
              <a:t>Find the problem (Hit the exception)</a:t>
            </a:r>
          </a:p>
          <a:p>
            <a:pPr lvl="1" algn="just"/>
            <a:r>
              <a:rPr lang="en-US" dirty="0"/>
              <a:t> Inform that an error has occurred (Throw the exception)</a:t>
            </a:r>
          </a:p>
          <a:p>
            <a:pPr lvl="1" algn="just"/>
            <a:r>
              <a:rPr lang="en-US" dirty="0"/>
              <a:t> Receive the error information (Catch the exception)</a:t>
            </a:r>
          </a:p>
          <a:p>
            <a:pPr lvl="1" algn="just"/>
            <a:r>
              <a:rPr lang="en-US" dirty="0"/>
              <a:t> Take corrective action (handle the exception)</a:t>
            </a:r>
          </a:p>
        </p:txBody>
      </p:sp>
    </p:spTree>
    <p:extLst>
      <p:ext uri="{BB962C8B-B14F-4D97-AF65-F5344CB8AC3E}">
        <p14:creationId xmlns="" xmlns:p14="http://schemas.microsoft.com/office/powerpoint/2010/main" val="346925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" y="260648"/>
            <a:ext cx="9000000" cy="7920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Exception </a:t>
            </a:r>
            <a:r>
              <a:rPr lang="en-US" dirty="0"/>
              <a:t>handling mechanism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basically </a:t>
            </a:r>
            <a:r>
              <a:rPr lang="en-US" dirty="0" smtClean="0"/>
              <a:t>build upon </a:t>
            </a:r>
            <a:r>
              <a:rPr lang="en-US" dirty="0"/>
              <a:t>three keywords</a:t>
            </a:r>
          </a:p>
          <a:p>
            <a:pPr lvl="1"/>
            <a:r>
              <a:rPr lang="en-US" dirty="0"/>
              <a:t> Try</a:t>
            </a:r>
          </a:p>
          <a:p>
            <a:pPr lvl="1"/>
            <a:r>
              <a:rPr lang="en-US" dirty="0"/>
              <a:t> Throw</a:t>
            </a:r>
          </a:p>
          <a:p>
            <a:pPr lvl="1"/>
            <a:r>
              <a:rPr lang="en-US" dirty="0"/>
              <a:t> Catch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555776" y="2420888"/>
            <a:ext cx="5340821" cy="3744416"/>
            <a:chOff x="3131840" y="2420888"/>
            <a:chExt cx="4764757" cy="33528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2420888"/>
              <a:ext cx="2676525" cy="3352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1840" y="4097288"/>
              <a:ext cx="1990725" cy="495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232140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0FEC9009-789F-BF4C-8002-AD49F5A7A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0" y="142852"/>
            <a:ext cx="7886700" cy="804456"/>
          </a:xfrm>
        </p:spPr>
        <p:txBody>
          <a:bodyPr/>
          <a:lstStyle/>
          <a:p>
            <a:r>
              <a:rPr lang="en-US" i="1" dirty="0"/>
              <a:t>Try-catch</a:t>
            </a:r>
            <a:r>
              <a:rPr lang="en-US" dirty="0"/>
              <a:t> organizes the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4AC9D5F1-C435-3A46-95E9-22F3AB482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9583"/>
            <a:ext cx="7886700" cy="50073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try{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fun1();</a:t>
            </a:r>
          </a:p>
          <a:p>
            <a:pPr marL="0" indent="0">
              <a:buNone/>
            </a:pPr>
            <a:r>
              <a:rPr lang="en-IN" dirty="0">
                <a:solidFill>
                  <a:srgbClr val="7030A0"/>
                </a:solidFill>
              </a:rPr>
              <a:t>fun2();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fun3();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C0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C00000"/>
                </a:solidFill>
              </a:rPr>
              <a:t> </a:t>
            </a:r>
            <a:r>
              <a:rPr lang="en-IN" dirty="0">
                <a:solidFill>
                  <a:srgbClr val="C00000"/>
                </a:solidFill>
              </a:rPr>
              <a:t>catch(error){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// … do something if error happens in any of the functions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C00000"/>
                </a:solidFill>
              </a:rPr>
              <a:t>}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9724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74DFBB-00D6-2545-898F-D8D57A47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Exception thrown and caught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B38BFE7-6C2B-8142-BB16-BD9545CB0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IN" sz="3200" dirty="0"/>
              <a:t>Exception is thrown at </a:t>
            </a:r>
            <a:r>
              <a:rPr lang="en-IN" sz="3200" dirty="0">
                <a:solidFill>
                  <a:srgbClr val="C00000"/>
                </a:solidFill>
              </a:rPr>
              <a:t>runtime</a:t>
            </a:r>
            <a:r>
              <a:rPr lang="en-IN" sz="3200" dirty="0"/>
              <a:t>. </a:t>
            </a:r>
          </a:p>
          <a:p>
            <a:r>
              <a:rPr lang="en-IN" sz="3200" dirty="0"/>
              <a:t>If an exception is not handled (caught), it prints exception message and </a:t>
            </a:r>
            <a:r>
              <a:rPr lang="en-IN" sz="3200" dirty="0">
                <a:solidFill>
                  <a:srgbClr val="C00000"/>
                </a:solidFill>
              </a:rPr>
              <a:t>terminates</a:t>
            </a:r>
            <a:r>
              <a:rPr lang="en-IN" sz="3200" dirty="0"/>
              <a:t> the program.</a:t>
            </a:r>
          </a:p>
          <a:p>
            <a:r>
              <a:rPr lang="en-IN" sz="3200" dirty="0"/>
              <a:t>Programmer’s job is to handle possible exceptions using </a:t>
            </a:r>
            <a:r>
              <a:rPr lang="en-IN" sz="3200" i="1" dirty="0">
                <a:solidFill>
                  <a:srgbClr val="C00000"/>
                </a:solidFill>
              </a:rPr>
              <a:t>try</a:t>
            </a:r>
            <a:r>
              <a:rPr lang="en-IN" sz="3200" dirty="0"/>
              <a:t>, </a:t>
            </a:r>
            <a:r>
              <a:rPr lang="en-IN" sz="3200" i="1" dirty="0">
                <a:solidFill>
                  <a:srgbClr val="C00000"/>
                </a:solidFill>
              </a:rPr>
              <a:t>throw</a:t>
            </a:r>
            <a:r>
              <a:rPr lang="en-IN" sz="3200" dirty="0"/>
              <a:t> and </a:t>
            </a:r>
            <a:r>
              <a:rPr lang="en-IN" sz="3200" i="1" dirty="0">
                <a:solidFill>
                  <a:srgbClr val="C00000"/>
                </a:solidFill>
              </a:rPr>
              <a:t>catch</a:t>
            </a:r>
            <a:r>
              <a:rPr lang="en-IN" sz="3200" dirty="0"/>
              <a:t> to avoid abnormal program termination</a:t>
            </a:r>
            <a:endParaRPr lang="en-US" sz="3200" i="1" dirty="0"/>
          </a:p>
        </p:txBody>
      </p:sp>
    </p:spTree>
    <p:extLst>
      <p:ext uri="{BB962C8B-B14F-4D97-AF65-F5344CB8AC3E}">
        <p14:creationId xmlns="" xmlns:p14="http://schemas.microsoft.com/office/powerpoint/2010/main" val="340978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3B4E7B-ACA6-5E40-B6D6-759CA1126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of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5FA11E2-4C4C-364C-850D-52ED03CB6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rgbClr val="C00000"/>
                </a:solidFill>
              </a:rPr>
              <a:t>try</a:t>
            </a:r>
            <a:r>
              <a:rPr lang="en-IN" sz="3200" dirty="0"/>
              <a:t> { 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/>
                </a:solidFill>
              </a:rPr>
              <a:t>//some code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C00000"/>
                </a:solidFill>
              </a:rPr>
              <a:t>throw</a:t>
            </a:r>
            <a:r>
              <a:rPr lang="en-IN" sz="3200" dirty="0"/>
              <a:t> exception; </a:t>
            </a:r>
          </a:p>
          <a:p>
            <a:pPr marL="0" indent="0">
              <a:buNone/>
            </a:pPr>
            <a:r>
              <a:rPr lang="en-IN" sz="3200" dirty="0"/>
              <a:t>} 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C00000"/>
                </a:solidFill>
              </a:rPr>
              <a:t>catch</a:t>
            </a:r>
            <a:r>
              <a:rPr lang="en-IN" sz="3200" dirty="0"/>
              <a:t>(type </a:t>
            </a:r>
            <a:r>
              <a:rPr lang="en-IN" sz="3200" dirty="0" err="1"/>
              <a:t>arg</a:t>
            </a:r>
            <a:r>
              <a:rPr lang="en-IN" sz="3200" dirty="0"/>
              <a:t>) {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1"/>
                </a:solidFill>
              </a:rPr>
              <a:t> //some code </a:t>
            </a:r>
          </a:p>
          <a:p>
            <a:pPr marL="0" indent="0">
              <a:buNone/>
            </a:pPr>
            <a:r>
              <a:rPr lang="en-IN" sz="3200" dirty="0"/>
              <a:t>}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258388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B88E41-912B-C348-9D9E-8DBDE6999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87"/>
            <a:ext cx="7886700" cy="64645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600" dirty="0">
                <a:solidFill>
                  <a:srgbClr val="C00000"/>
                </a:solidFill>
              </a:rPr>
              <a:t>// Without exception handling</a:t>
            </a:r>
          </a:p>
          <a:p>
            <a:pPr marL="0" indent="0">
              <a:buNone/>
            </a:pPr>
            <a:endParaRPr lang="en-IN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sz="3200" dirty="0">
                <a:solidFill>
                  <a:srgbClr val="0070C0"/>
                </a:solidFill>
              </a:rPr>
              <a:t>float division(</a:t>
            </a:r>
            <a:r>
              <a:rPr lang="en-IN" sz="3200" dirty="0" err="1">
                <a:solidFill>
                  <a:srgbClr val="0070C0"/>
                </a:solidFill>
              </a:rPr>
              <a:t>int</a:t>
            </a:r>
            <a:r>
              <a:rPr lang="en-IN" sz="3200" dirty="0">
                <a:solidFill>
                  <a:srgbClr val="0070C0"/>
                </a:solidFill>
              </a:rPr>
              <a:t> x, </a:t>
            </a:r>
            <a:r>
              <a:rPr lang="en-IN" sz="3200" dirty="0" err="1">
                <a:solidFill>
                  <a:srgbClr val="0070C0"/>
                </a:solidFill>
              </a:rPr>
              <a:t>int</a:t>
            </a:r>
            <a:r>
              <a:rPr lang="en-IN" sz="3200" dirty="0">
                <a:solidFill>
                  <a:srgbClr val="0070C0"/>
                </a:solidFill>
              </a:rPr>
              <a:t> y){ 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0070C0"/>
                </a:solidFill>
              </a:rPr>
              <a:t>return (x/y);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0070C0"/>
                </a:solidFill>
              </a:rPr>
              <a:t>}</a:t>
            </a:r>
          </a:p>
          <a:p>
            <a:pPr marL="0" indent="0">
              <a:buNone/>
            </a:pPr>
            <a:r>
              <a:rPr lang="en-IN" sz="3200" dirty="0" err="1"/>
              <a:t>int</a:t>
            </a:r>
            <a:r>
              <a:rPr lang="en-IN" sz="3200" dirty="0"/>
              <a:t> main(){</a:t>
            </a:r>
          </a:p>
          <a:p>
            <a:pPr marL="0" indent="0">
              <a:buNone/>
            </a:pPr>
            <a:r>
              <a:rPr lang="en-IN" sz="3200" dirty="0" err="1"/>
              <a:t>int</a:t>
            </a:r>
            <a:r>
              <a:rPr lang="en-IN" sz="3200" dirty="0"/>
              <a:t> </a:t>
            </a:r>
            <a:r>
              <a:rPr lang="en-IN" sz="3200" dirty="0" err="1"/>
              <a:t>i</a:t>
            </a:r>
            <a:r>
              <a:rPr lang="en-IN" sz="3200" dirty="0"/>
              <a:t>=50, j=0;</a:t>
            </a:r>
          </a:p>
          <a:p>
            <a:pPr marL="0" indent="0">
              <a:buNone/>
            </a:pPr>
            <a:r>
              <a:rPr lang="en-IN" sz="3200" dirty="0"/>
              <a:t>float k=0;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0070C0"/>
                </a:solidFill>
              </a:rPr>
              <a:t>k=division(</a:t>
            </a:r>
            <a:r>
              <a:rPr lang="en-IN" sz="3200" dirty="0" err="1">
                <a:solidFill>
                  <a:srgbClr val="0070C0"/>
                </a:solidFill>
              </a:rPr>
              <a:t>i,j</a:t>
            </a:r>
            <a:r>
              <a:rPr lang="en-IN" sz="3200" dirty="0">
                <a:solidFill>
                  <a:srgbClr val="0070C0"/>
                </a:solidFill>
              </a:rPr>
              <a:t>);</a:t>
            </a:r>
          </a:p>
          <a:p>
            <a:pPr marL="0" indent="0">
              <a:buNone/>
            </a:pPr>
            <a:r>
              <a:rPr lang="en-IN" sz="3200" dirty="0" err="1"/>
              <a:t>cout</a:t>
            </a:r>
            <a:r>
              <a:rPr lang="en-IN" sz="3200" dirty="0"/>
              <a:t>&lt;&lt;k&lt;&lt;</a:t>
            </a:r>
            <a:r>
              <a:rPr lang="en-IN" sz="3200" dirty="0" err="1"/>
              <a:t>endl</a:t>
            </a:r>
            <a:r>
              <a:rPr lang="en-IN" sz="3200" dirty="0"/>
              <a:t>;     </a:t>
            </a:r>
          </a:p>
          <a:p>
            <a:pPr marL="0" indent="0">
              <a:buNone/>
            </a:pPr>
            <a:r>
              <a:rPr lang="en-IN" sz="3200" dirty="0"/>
              <a:t>} </a:t>
            </a:r>
          </a:p>
        </p:txBody>
      </p:sp>
    </p:spTree>
    <p:extLst>
      <p:ext uri="{BB962C8B-B14F-4D97-AF65-F5344CB8AC3E}">
        <p14:creationId xmlns="" xmlns:p14="http://schemas.microsoft.com/office/powerpoint/2010/main" val="78159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DFC3DC-4EC4-434B-8708-856D3970C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269A1E1-A50E-684E-807C-AF3D00182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Floating point exception (core dumped)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102801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28640A8-7FC6-7C42-A7AC-0C7DFA9FC380}"/>
              </a:ext>
            </a:extLst>
          </p:cNvPr>
          <p:cNvSpPr/>
          <p:nvPr/>
        </p:nvSpPr>
        <p:spPr>
          <a:xfrm>
            <a:off x="558210" y="363915"/>
            <a:ext cx="6044609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// With try, throw &amp; catch</a:t>
            </a:r>
          </a:p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/>
              <a:t>float division(</a:t>
            </a:r>
            <a:r>
              <a:rPr lang="en-US" sz="2800" dirty="0" err="1"/>
              <a:t>int</a:t>
            </a:r>
            <a:r>
              <a:rPr lang="en-US" sz="2800" dirty="0"/>
              <a:t> x, </a:t>
            </a:r>
            <a:r>
              <a:rPr lang="en-US" sz="2800" dirty="0" err="1"/>
              <a:t>int</a:t>
            </a:r>
            <a:r>
              <a:rPr lang="en-US" sz="2800" dirty="0"/>
              <a:t> y) {  </a:t>
            </a:r>
          </a:p>
          <a:p>
            <a:r>
              <a:rPr lang="en-US" sz="2800" dirty="0"/>
              <a:t>   if( y == 0 ) </a:t>
            </a:r>
            <a:r>
              <a:rPr lang="en-US" sz="2800" dirty="0">
                <a:solidFill>
                  <a:srgbClr val="C00000"/>
                </a:solidFill>
              </a:rPr>
              <a:t>throw</a:t>
            </a:r>
            <a:r>
              <a:rPr lang="en-US" sz="2800" dirty="0"/>
              <a:t> “</a:t>
            </a:r>
            <a:r>
              <a:rPr lang="en-US" sz="2800" dirty="0">
                <a:solidFill>
                  <a:srgbClr val="0070C0"/>
                </a:solidFill>
              </a:rPr>
              <a:t>Custom </a:t>
            </a:r>
            <a:r>
              <a:rPr lang="en-US" sz="2800" dirty="0" err="1">
                <a:solidFill>
                  <a:srgbClr val="0070C0"/>
                </a:solidFill>
              </a:rPr>
              <a:t>msg</a:t>
            </a:r>
            <a:r>
              <a:rPr lang="en-US" sz="2800" dirty="0">
                <a:solidFill>
                  <a:srgbClr val="0070C0"/>
                </a:solidFill>
              </a:rPr>
              <a:t> - divide by zero!";  </a:t>
            </a:r>
          </a:p>
          <a:p>
            <a:r>
              <a:rPr lang="en-US" sz="2800" dirty="0"/>
              <a:t>   return (x/y);  </a:t>
            </a:r>
          </a:p>
          <a:p>
            <a:r>
              <a:rPr lang="en-US" sz="2800" dirty="0"/>
              <a:t>}  </a:t>
            </a:r>
          </a:p>
          <a:p>
            <a:r>
              <a:rPr lang="en-US" sz="2800" dirty="0" err="1"/>
              <a:t>int</a:t>
            </a:r>
            <a:r>
              <a:rPr lang="en-US" sz="2800" dirty="0"/>
              <a:t> main () {  </a:t>
            </a:r>
          </a:p>
          <a:p>
            <a:r>
              <a:rPr lang="en-US" sz="2800" dirty="0"/>
              <a:t>   </a:t>
            </a: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= 25,j = 0;  </a:t>
            </a:r>
          </a:p>
          <a:p>
            <a:r>
              <a:rPr lang="en-US" sz="2800" dirty="0"/>
              <a:t>   float k = 0;  </a:t>
            </a:r>
          </a:p>
          <a:p>
            <a:r>
              <a:rPr lang="en-US" sz="2800" dirty="0"/>
              <a:t>   </a:t>
            </a:r>
            <a:r>
              <a:rPr lang="en-US" sz="2800" dirty="0">
                <a:solidFill>
                  <a:srgbClr val="C00000"/>
                </a:solidFill>
              </a:rPr>
              <a:t>try</a:t>
            </a:r>
            <a:r>
              <a:rPr lang="en-US" sz="2800" dirty="0"/>
              <a:t> {  </a:t>
            </a:r>
          </a:p>
          <a:p>
            <a:r>
              <a:rPr lang="en-US" sz="2800" dirty="0"/>
              <a:t>      k = division(</a:t>
            </a:r>
            <a:r>
              <a:rPr lang="en-US" sz="2800" dirty="0" err="1"/>
              <a:t>i</a:t>
            </a:r>
            <a:r>
              <a:rPr lang="en-US" sz="2800" dirty="0"/>
              <a:t>, j);  </a:t>
            </a:r>
          </a:p>
          <a:p>
            <a:r>
              <a:rPr lang="en-US" sz="2800" dirty="0"/>
              <a:t>      </a:t>
            </a:r>
            <a:r>
              <a:rPr lang="en-US" sz="2800" dirty="0" err="1"/>
              <a:t>cout</a:t>
            </a:r>
            <a:r>
              <a:rPr lang="en-US" sz="2800" dirty="0"/>
              <a:t> &lt;&lt; k &lt;&lt; </a:t>
            </a:r>
            <a:r>
              <a:rPr lang="en-US" sz="2800" dirty="0" err="1"/>
              <a:t>endl</a:t>
            </a:r>
            <a:r>
              <a:rPr lang="en-US" sz="2800" dirty="0"/>
              <a:t>;  </a:t>
            </a:r>
          </a:p>
          <a:p>
            <a:r>
              <a:rPr lang="en-US" sz="2800" dirty="0"/>
              <a:t>   } </a:t>
            </a:r>
            <a:r>
              <a:rPr lang="en-US" sz="2800" dirty="0">
                <a:solidFill>
                  <a:srgbClr val="C00000"/>
                </a:solidFill>
              </a:rPr>
              <a:t>catch</a:t>
            </a:r>
            <a:r>
              <a:rPr lang="en-US" sz="2800" dirty="0"/>
              <a:t> (</a:t>
            </a:r>
            <a:r>
              <a:rPr lang="en-US" sz="2800" dirty="0" err="1">
                <a:solidFill>
                  <a:srgbClr val="0070C0"/>
                </a:solidFill>
              </a:rPr>
              <a:t>const</a:t>
            </a:r>
            <a:r>
              <a:rPr lang="en-US" sz="2800" dirty="0">
                <a:solidFill>
                  <a:srgbClr val="0070C0"/>
                </a:solidFill>
              </a:rPr>
              <a:t> char* e</a:t>
            </a:r>
            <a:r>
              <a:rPr lang="en-US" sz="2800" dirty="0"/>
              <a:t>) { </a:t>
            </a:r>
            <a:r>
              <a:rPr lang="en-US" sz="2800" dirty="0" err="1"/>
              <a:t>cout</a:t>
            </a:r>
            <a:r>
              <a:rPr lang="en-US" sz="2800" dirty="0"/>
              <a:t>&lt;&lt; </a:t>
            </a:r>
            <a:r>
              <a:rPr lang="en-US" sz="2800" dirty="0">
                <a:solidFill>
                  <a:srgbClr val="0070C0"/>
                </a:solidFill>
              </a:rPr>
              <a:t>e</a:t>
            </a:r>
            <a:r>
              <a:rPr lang="en-US" sz="2800" dirty="0"/>
              <a:t> &lt;&lt; </a:t>
            </a:r>
            <a:r>
              <a:rPr lang="en-US" sz="2800" dirty="0" err="1"/>
              <a:t>endl</a:t>
            </a:r>
            <a:r>
              <a:rPr lang="en-US" sz="2800" dirty="0"/>
              <a:t>;}  </a:t>
            </a:r>
          </a:p>
          <a:p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82856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AEC2DF-9224-2C4F-97F6-D3EDB2DE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428125-7E39-194D-BD73-F3559C4B9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/>
              <a:t>Custom </a:t>
            </a:r>
            <a:r>
              <a:rPr lang="en-IN" sz="3600" dirty="0" err="1"/>
              <a:t>msg</a:t>
            </a:r>
            <a:r>
              <a:rPr lang="en-IN" sz="3600" dirty="0"/>
              <a:t> - divide by zero! 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54363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52AE982-A6CF-4846-BE0B-2F4B38639C76}"/>
              </a:ext>
            </a:extLst>
          </p:cNvPr>
          <p:cNvSpPr/>
          <p:nvPr/>
        </p:nvSpPr>
        <p:spPr>
          <a:xfrm>
            <a:off x="558210" y="404037"/>
            <a:ext cx="6299791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// What will be the output?</a:t>
            </a:r>
          </a:p>
          <a:p>
            <a:r>
              <a:rPr lang="en-US" sz="2800" dirty="0"/>
              <a:t>float division(</a:t>
            </a:r>
            <a:r>
              <a:rPr lang="en-US" sz="2800" dirty="0" err="1"/>
              <a:t>int</a:t>
            </a:r>
            <a:r>
              <a:rPr lang="en-US" sz="2800" dirty="0"/>
              <a:t> x, </a:t>
            </a:r>
            <a:r>
              <a:rPr lang="en-US" sz="2800" dirty="0" err="1"/>
              <a:t>int</a:t>
            </a:r>
            <a:r>
              <a:rPr lang="en-US" sz="2800" dirty="0"/>
              <a:t> y) {  </a:t>
            </a:r>
          </a:p>
          <a:p>
            <a:r>
              <a:rPr lang="en-US" sz="2800" dirty="0"/>
              <a:t>   if( y == 0 ) </a:t>
            </a:r>
            <a:r>
              <a:rPr lang="en-US" sz="2800" dirty="0">
                <a:solidFill>
                  <a:srgbClr val="C00000"/>
                </a:solidFill>
              </a:rPr>
              <a:t>throw 5;</a:t>
            </a:r>
            <a:r>
              <a:rPr lang="en-US" sz="2800" dirty="0"/>
              <a:t>  </a:t>
            </a:r>
          </a:p>
          <a:p>
            <a:r>
              <a:rPr lang="en-US" sz="2800" dirty="0"/>
              <a:t>   return (x/y);  </a:t>
            </a:r>
          </a:p>
          <a:p>
            <a:r>
              <a:rPr lang="en-US" sz="2800" dirty="0"/>
              <a:t>}  </a:t>
            </a:r>
          </a:p>
          <a:p>
            <a:r>
              <a:rPr lang="en-US" sz="2800" dirty="0" err="1"/>
              <a:t>int</a:t>
            </a:r>
            <a:r>
              <a:rPr lang="en-US" sz="2800" dirty="0"/>
              <a:t> main () {  </a:t>
            </a:r>
          </a:p>
          <a:p>
            <a:r>
              <a:rPr lang="en-US" sz="2800" dirty="0"/>
              <a:t>   float k = 0;  </a:t>
            </a:r>
          </a:p>
          <a:p>
            <a:r>
              <a:rPr lang="en-US" sz="2800" dirty="0">
                <a:solidFill>
                  <a:srgbClr val="0070C0"/>
                </a:solidFill>
              </a:rPr>
              <a:t>   try {  </a:t>
            </a:r>
          </a:p>
          <a:p>
            <a:r>
              <a:rPr lang="en-US" sz="2800" dirty="0">
                <a:solidFill>
                  <a:srgbClr val="0070C0"/>
                </a:solidFill>
              </a:rPr>
              <a:t>      k = division(25, k);  </a:t>
            </a:r>
          </a:p>
          <a:p>
            <a:r>
              <a:rPr lang="en-US" sz="2800" dirty="0">
                <a:solidFill>
                  <a:srgbClr val="0070C0"/>
                </a:solidFill>
              </a:rPr>
              <a:t>      </a:t>
            </a:r>
            <a:r>
              <a:rPr lang="en-US" sz="2800" dirty="0" err="1">
                <a:solidFill>
                  <a:srgbClr val="0070C0"/>
                </a:solidFill>
              </a:rPr>
              <a:t>cout</a:t>
            </a:r>
            <a:r>
              <a:rPr lang="en-US" sz="2800" dirty="0">
                <a:solidFill>
                  <a:srgbClr val="0070C0"/>
                </a:solidFill>
              </a:rPr>
              <a:t> &lt;&lt; k &lt;&lt; </a:t>
            </a:r>
            <a:r>
              <a:rPr lang="en-US" sz="2800" dirty="0" err="1">
                <a:solidFill>
                  <a:srgbClr val="0070C0"/>
                </a:solidFill>
              </a:rPr>
              <a:t>endl</a:t>
            </a:r>
            <a:r>
              <a:rPr lang="en-US" sz="2800" dirty="0">
                <a:solidFill>
                  <a:srgbClr val="0070C0"/>
                </a:solidFill>
              </a:rPr>
              <a:t>;  </a:t>
            </a:r>
          </a:p>
          <a:p>
            <a:r>
              <a:rPr lang="en-US" sz="2800" dirty="0">
                <a:solidFill>
                  <a:srgbClr val="0070C0"/>
                </a:solidFill>
              </a:rPr>
              <a:t>   }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</a:t>
            </a:r>
            <a:r>
              <a:rPr lang="en-US" sz="2800" dirty="0">
                <a:solidFill>
                  <a:srgbClr val="7030A0"/>
                </a:solidFill>
              </a:rPr>
              <a:t>catch (</a:t>
            </a:r>
            <a:r>
              <a:rPr lang="en-US" sz="2800" dirty="0" err="1">
                <a:solidFill>
                  <a:srgbClr val="7030A0"/>
                </a:solidFill>
              </a:rPr>
              <a:t>const</a:t>
            </a:r>
            <a:r>
              <a:rPr lang="en-US" sz="2800" dirty="0">
                <a:solidFill>
                  <a:srgbClr val="7030A0"/>
                </a:solidFill>
              </a:rPr>
              <a:t> char* e) { </a:t>
            </a:r>
            <a:r>
              <a:rPr lang="en-US" sz="2800" dirty="0" err="1">
                <a:solidFill>
                  <a:srgbClr val="7030A0"/>
                </a:solidFill>
              </a:rPr>
              <a:t>cout</a:t>
            </a:r>
            <a:r>
              <a:rPr lang="en-US" sz="2800" dirty="0">
                <a:solidFill>
                  <a:srgbClr val="7030A0"/>
                </a:solidFill>
              </a:rPr>
              <a:t>&lt;&lt; e &lt;&lt; </a:t>
            </a:r>
            <a:r>
              <a:rPr lang="en-US" sz="2800" dirty="0" err="1">
                <a:solidFill>
                  <a:srgbClr val="7030A0"/>
                </a:solidFill>
              </a:rPr>
              <a:t>endl</a:t>
            </a:r>
            <a:r>
              <a:rPr lang="en-US" sz="2800" dirty="0">
                <a:solidFill>
                  <a:srgbClr val="7030A0"/>
                </a:solidFill>
              </a:rPr>
              <a:t>;}  </a:t>
            </a:r>
          </a:p>
          <a:p>
            <a:r>
              <a:rPr lang="en-US" sz="2800" dirty="0">
                <a:solidFill>
                  <a:srgbClr val="7030A0"/>
                </a:solidFill>
              </a:rPr>
              <a:t>   catch(</a:t>
            </a:r>
            <a:r>
              <a:rPr lang="en-US" sz="2800" dirty="0" err="1">
                <a:solidFill>
                  <a:srgbClr val="7030A0"/>
                </a:solidFill>
              </a:rPr>
              <a:t>int</a:t>
            </a:r>
            <a:r>
              <a:rPr lang="en-US" sz="2800" dirty="0">
                <a:solidFill>
                  <a:srgbClr val="7030A0"/>
                </a:solidFill>
              </a:rPr>
              <a:t> </a:t>
            </a:r>
            <a:r>
              <a:rPr lang="en-US" sz="2800" dirty="0" err="1">
                <a:solidFill>
                  <a:srgbClr val="7030A0"/>
                </a:solidFill>
              </a:rPr>
              <a:t>i</a:t>
            </a:r>
            <a:r>
              <a:rPr lang="en-US" sz="2800" dirty="0">
                <a:solidFill>
                  <a:srgbClr val="7030A0"/>
                </a:solidFill>
              </a:rPr>
              <a:t>) {</a:t>
            </a:r>
            <a:r>
              <a:rPr lang="en-US" sz="2800" dirty="0" err="1">
                <a:solidFill>
                  <a:srgbClr val="7030A0"/>
                </a:solidFill>
              </a:rPr>
              <a:t>cout</a:t>
            </a:r>
            <a:r>
              <a:rPr lang="en-US" sz="2800" dirty="0">
                <a:solidFill>
                  <a:srgbClr val="7030A0"/>
                </a:solidFill>
              </a:rPr>
              <a:t>&lt;&lt;"caught </a:t>
            </a:r>
            <a:r>
              <a:rPr lang="en-US" sz="2800" dirty="0" err="1">
                <a:solidFill>
                  <a:srgbClr val="7030A0"/>
                </a:solidFill>
              </a:rPr>
              <a:t>i</a:t>
            </a:r>
            <a:r>
              <a:rPr lang="en-US" sz="2800" dirty="0">
                <a:solidFill>
                  <a:srgbClr val="7030A0"/>
                </a:solidFill>
              </a:rPr>
              <a:t> = "&lt;&lt;</a:t>
            </a:r>
            <a:r>
              <a:rPr lang="en-US" sz="2800" dirty="0" err="1">
                <a:solidFill>
                  <a:srgbClr val="7030A0"/>
                </a:solidFill>
              </a:rPr>
              <a:t>i</a:t>
            </a:r>
            <a:r>
              <a:rPr lang="en-US" sz="2800" dirty="0">
                <a:solidFill>
                  <a:srgbClr val="7030A0"/>
                </a:solidFill>
              </a:rPr>
              <a:t>&lt;&lt;</a:t>
            </a:r>
            <a:r>
              <a:rPr lang="en-US" sz="2800" dirty="0" err="1">
                <a:solidFill>
                  <a:srgbClr val="7030A0"/>
                </a:solidFill>
              </a:rPr>
              <a:t>endl</a:t>
            </a:r>
            <a:r>
              <a:rPr lang="en-US" sz="2800" dirty="0">
                <a:solidFill>
                  <a:srgbClr val="7030A0"/>
                </a:solidFill>
              </a:rPr>
              <a:t>;}</a:t>
            </a:r>
          </a:p>
          <a:p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268070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88335C-6CB7-6644-9052-27CC7B54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BC27146-6579-2740-AA9D-6390D8DD8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/>
              <a:t>caught </a:t>
            </a:r>
            <a:r>
              <a:rPr lang="en-IN" sz="3600" dirty="0" err="1"/>
              <a:t>i</a:t>
            </a:r>
            <a:r>
              <a:rPr lang="en-IN" sz="3600" dirty="0"/>
              <a:t> = 5 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266296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Exception handling mechanism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9000000" cy="511256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keyword </a:t>
            </a:r>
            <a:r>
              <a:rPr lang="en-US" b="1" dirty="0"/>
              <a:t>try </a:t>
            </a:r>
            <a:r>
              <a:rPr lang="en-US" dirty="0"/>
              <a:t>is used to preface a block </a:t>
            </a:r>
            <a:r>
              <a:rPr lang="en-US" dirty="0" smtClean="0"/>
              <a:t>of statements </a:t>
            </a:r>
            <a:r>
              <a:rPr lang="en-US" dirty="0"/>
              <a:t>which may generate exceptions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an exception is detected, it is thrown using </a:t>
            </a:r>
            <a:r>
              <a:rPr lang="en-US" dirty="0" smtClean="0"/>
              <a:t>a </a:t>
            </a:r>
            <a:r>
              <a:rPr lang="en-US" b="1" dirty="0" smtClean="0"/>
              <a:t>   throw </a:t>
            </a:r>
            <a:r>
              <a:rPr lang="en-US" dirty="0"/>
              <a:t>statement in the try block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 smtClean="0"/>
              <a:t>A </a:t>
            </a:r>
            <a:r>
              <a:rPr lang="en-US" b="1" dirty="0"/>
              <a:t>catch </a:t>
            </a:r>
            <a:r>
              <a:rPr lang="en-US" dirty="0"/>
              <a:t>block defined by the keyword ‘catch</a:t>
            </a:r>
            <a:r>
              <a:rPr lang="en-US" dirty="0" smtClean="0"/>
              <a:t>’ catches </a:t>
            </a:r>
            <a:r>
              <a:rPr lang="en-US" dirty="0"/>
              <a:t>the exception and handles it appropriately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catch block that catches an exception </a:t>
            </a:r>
            <a:r>
              <a:rPr lang="en-US" dirty="0" smtClean="0"/>
              <a:t>must immediately </a:t>
            </a:r>
            <a:r>
              <a:rPr lang="en-US" dirty="0"/>
              <a:t>follow the try block that throws </a:t>
            </a:r>
            <a:r>
              <a:rPr lang="en-US" dirty="0" smtClean="0"/>
              <a:t>the exception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93095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Exception handling mechanism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/>
              <a:t>try</a:t>
            </a:r>
          </a:p>
          <a:p>
            <a:pPr marL="0" indent="0">
              <a:buNone/>
            </a:pPr>
            <a:r>
              <a:rPr lang="en-US" sz="2600" dirty="0"/>
              <a:t>{</a:t>
            </a:r>
          </a:p>
          <a:p>
            <a:pPr marL="0" indent="0">
              <a:buNone/>
            </a:pPr>
            <a:r>
              <a:rPr lang="en-US" sz="2600" dirty="0" smtClean="0"/>
              <a:t>   …                                       //Block of Statements which detects and</a:t>
            </a:r>
          </a:p>
          <a:p>
            <a:pPr marL="0" indent="0">
              <a:buNone/>
            </a:pPr>
            <a:r>
              <a:rPr lang="en-US" sz="2600" dirty="0" smtClean="0"/>
              <a:t>  throw exception;            // throw an exception</a:t>
            </a:r>
          </a:p>
          <a:p>
            <a:pPr marL="0" indent="0">
              <a:buNone/>
            </a:pPr>
            <a:r>
              <a:rPr lang="en-US" sz="2600" dirty="0"/>
              <a:t> </a:t>
            </a:r>
            <a:r>
              <a:rPr lang="en-US" sz="2600" dirty="0" smtClean="0"/>
              <a:t>  …</a:t>
            </a:r>
          </a:p>
          <a:p>
            <a:pPr marL="0" indent="0">
              <a:buNone/>
            </a:pPr>
            <a:r>
              <a:rPr lang="en-US" sz="2600" dirty="0" smtClean="0"/>
              <a:t>}</a:t>
            </a:r>
          </a:p>
          <a:p>
            <a:pPr marL="0" indent="0">
              <a:buNone/>
            </a:pPr>
            <a:r>
              <a:rPr lang="en-US" sz="2600" dirty="0" smtClean="0"/>
              <a:t>catch(type </a:t>
            </a:r>
            <a:r>
              <a:rPr lang="en-US" sz="2600" dirty="0" err="1" smtClean="0"/>
              <a:t>arg</a:t>
            </a:r>
            <a:r>
              <a:rPr lang="en-US" sz="2600" dirty="0" smtClean="0"/>
              <a:t>)                 //catch exception</a:t>
            </a:r>
          </a:p>
          <a:p>
            <a:pPr marL="0" indent="0">
              <a:buNone/>
            </a:pPr>
            <a:r>
              <a:rPr lang="en-US" sz="2600" dirty="0" smtClean="0"/>
              <a:t>{</a:t>
            </a:r>
          </a:p>
          <a:p>
            <a:pPr marL="0" indent="0">
              <a:buNone/>
            </a:pPr>
            <a:r>
              <a:rPr lang="en-US" sz="2600" dirty="0" smtClean="0"/>
              <a:t>…                                         //Block of statements that handles exception</a:t>
            </a:r>
          </a:p>
          <a:p>
            <a:pPr marL="0" indent="0">
              <a:buNone/>
            </a:pPr>
            <a:r>
              <a:rPr lang="en-US" sz="2600" dirty="0" smtClean="0"/>
              <a:t>…</a:t>
            </a:r>
          </a:p>
          <a:p>
            <a:pPr marL="0" indent="0">
              <a:buNone/>
            </a:pPr>
            <a:r>
              <a:rPr lang="en-US" sz="2600" dirty="0" smtClean="0"/>
              <a:t>}</a:t>
            </a:r>
          </a:p>
          <a:p>
            <a:pPr marL="0" indent="0">
              <a:buNone/>
            </a:pPr>
            <a:r>
              <a:rPr lang="en-US" sz="2600" dirty="0" smtClean="0"/>
              <a:t>….</a:t>
            </a:r>
          </a:p>
          <a:p>
            <a:pPr marL="0" indent="0">
              <a:buNone/>
            </a:pPr>
            <a:r>
              <a:rPr lang="en-US" sz="2600" dirty="0" smtClean="0"/>
              <a:t>….</a:t>
            </a:r>
            <a:endParaRPr lang="en-US" sz="2600" dirty="0"/>
          </a:p>
        </p:txBody>
      </p:sp>
    </p:spTree>
    <p:extLst>
      <p:ext uri="{BB962C8B-B14F-4D97-AF65-F5344CB8AC3E}">
        <p14:creationId xmlns="" xmlns:p14="http://schemas.microsoft.com/office/powerpoint/2010/main" val="40262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98155274"/>
              </p:ext>
            </p:extLst>
          </p:nvPr>
        </p:nvGraphicFramePr>
        <p:xfrm>
          <a:off x="179512" y="1341438"/>
          <a:ext cx="5616624" cy="5699760"/>
        </p:xfrm>
        <a:graphic>
          <a:graphicData uri="http://schemas.openxmlformats.org/drawingml/2006/table">
            <a:tbl>
              <a:tblPr/>
              <a:tblGrid>
                <a:gridCol w="5616624"/>
              </a:tblGrid>
              <a:tr h="5516562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#include 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iostream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using namespace 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std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2200" b="0" i="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main()</a:t>
                      </a:r>
                    </a:p>
                    <a:p>
                      <a:pPr algn="l" rtl="0" fontAlgn="base"/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= -1;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// Some code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&lt;&lt; "Before try \n";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try {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</a:t>
                      </a:r>
                      <a:r>
                        <a:rPr lang="en-US" sz="2200" b="0" i="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&lt;&lt; "Inside try \n";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if 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(x &lt; 0)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throw x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;     //throw an exception</a:t>
                      </a:r>
                      <a:endParaRPr lang="en-US" sz="2200" b="0" i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 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&lt;&lt; "After throw (Never executed) \n";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}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}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catch (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) {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&lt;&lt; "Exception Caught \n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";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}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&lt;&lt; "After catch (Will be executed) \n";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return 0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;}</a:t>
                      </a:r>
                      <a:endParaRPr lang="en-US" sz="2200" b="0" i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rtl="0" fontAlgn="base"/>
                      <a:endParaRPr lang="en-US" sz="2200" b="0" i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36096" y="2348880"/>
            <a:ext cx="35283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/>
              <a:t>Before try </a:t>
            </a:r>
            <a:endParaRPr lang="en-US" dirty="0" smtClean="0"/>
          </a:p>
          <a:p>
            <a:r>
              <a:rPr lang="en-US" dirty="0" smtClean="0"/>
              <a:t>Inside </a:t>
            </a:r>
            <a:r>
              <a:rPr lang="en-US" dirty="0"/>
              <a:t>try </a:t>
            </a:r>
            <a:endParaRPr lang="en-US" dirty="0" smtClean="0"/>
          </a:p>
          <a:p>
            <a:r>
              <a:rPr lang="en-US" dirty="0" smtClean="0"/>
              <a:t>Exception </a:t>
            </a:r>
            <a:r>
              <a:rPr lang="en-US" dirty="0"/>
              <a:t>Caught </a:t>
            </a: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catch (Will be executed)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0375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Enclose code that may have an error in try </a:t>
            </a:r>
            <a:r>
              <a:rPr lang="en-US" dirty="0" smtClean="0"/>
              <a:t>block.</a:t>
            </a:r>
          </a:p>
          <a:p>
            <a:pPr algn="just"/>
            <a:r>
              <a:rPr lang="en-US" dirty="0" smtClean="0"/>
              <a:t>Follow </a:t>
            </a:r>
            <a:r>
              <a:rPr lang="en-US" dirty="0"/>
              <a:t>with one or more catch blocks. Each catch block has an exception </a:t>
            </a:r>
            <a:r>
              <a:rPr lang="en-US" dirty="0" smtClean="0"/>
              <a:t>handler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exception occurs and matches parameter in catch block, code in </a:t>
            </a:r>
            <a:r>
              <a:rPr lang="en-US" dirty="0" smtClean="0"/>
              <a:t>catch block executed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no exception thrown, exception handlers skipped and control </a:t>
            </a:r>
            <a:r>
              <a:rPr lang="en-US" dirty="0" smtClean="0"/>
              <a:t>resumes after </a:t>
            </a:r>
            <a:r>
              <a:rPr lang="en-US" dirty="0"/>
              <a:t>catch </a:t>
            </a:r>
            <a:r>
              <a:rPr lang="en-US" dirty="0" smtClean="0"/>
              <a:t>blocks</a:t>
            </a:r>
          </a:p>
          <a:p>
            <a:pPr algn="just"/>
            <a:r>
              <a:rPr lang="en-US" dirty="0" smtClean="0"/>
              <a:t>throw </a:t>
            </a:r>
            <a:r>
              <a:rPr lang="en-US" dirty="0"/>
              <a:t>point - place where exception occurred Control cannot return to throw point</a:t>
            </a:r>
          </a:p>
        </p:txBody>
      </p:sp>
    </p:spTree>
    <p:extLst>
      <p:ext uri="{BB962C8B-B14F-4D97-AF65-F5344CB8AC3E}">
        <p14:creationId xmlns="" xmlns:p14="http://schemas.microsoft.com/office/powerpoint/2010/main" val="5672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Exceptions are objects used to </a:t>
            </a:r>
            <a:r>
              <a:rPr lang="en-US" dirty="0" smtClean="0"/>
              <a:t>transmit information about </a:t>
            </a:r>
            <a:r>
              <a:rPr lang="en-US" dirty="0"/>
              <a:t>a problem.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the type of the object thrown matches the </a:t>
            </a:r>
            <a:r>
              <a:rPr lang="en-US" dirty="0" err="1" smtClean="0"/>
              <a:t>arg</a:t>
            </a:r>
            <a:r>
              <a:rPr lang="en-US" dirty="0" smtClean="0"/>
              <a:t> type </a:t>
            </a:r>
            <a:r>
              <a:rPr lang="en-US" dirty="0"/>
              <a:t>in the catch statement, the catch block </a:t>
            </a:r>
            <a:r>
              <a:rPr lang="en-US" dirty="0" smtClean="0"/>
              <a:t>is executed.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6128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80728"/>
            <a:ext cx="9000000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292080" y="1006569"/>
            <a:ext cx="3600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catch(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&lt;&lt;“exception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caught : x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  “&lt;&lt;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x&lt;&lt;”\n”;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&lt;&lt;“End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”;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0;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85794"/>
            <a:ext cx="4572000" cy="63709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namespace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&lt;&lt;”Enter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values of a and b”;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&gt;&gt;a&gt;&gt;b;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x = a- b;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if(x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!=0)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&lt;&lt;“result(a/x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“&lt;&lt;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a/x&lt;&lt;”\n”;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else{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throw(x);}}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15608" y="3883760"/>
            <a:ext cx="2988840" cy="2954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First Run Output:</a:t>
            </a:r>
          </a:p>
          <a:p>
            <a:r>
              <a:rPr lang="en-US" dirty="0" smtClean="0"/>
              <a:t>Enter the values of a and b</a:t>
            </a:r>
          </a:p>
          <a:p>
            <a:r>
              <a:rPr lang="en-US" dirty="0" smtClean="0"/>
              <a:t>20   15</a:t>
            </a:r>
          </a:p>
          <a:p>
            <a:r>
              <a:rPr lang="en-US" dirty="0" smtClean="0"/>
              <a:t>Result(a/x) =4</a:t>
            </a:r>
          </a:p>
          <a:p>
            <a:r>
              <a:rPr lang="en-US" dirty="0" smtClean="0"/>
              <a:t>End</a:t>
            </a:r>
          </a:p>
          <a:p>
            <a:r>
              <a:rPr lang="en-US" b="1" dirty="0" smtClean="0"/>
              <a:t>Second </a:t>
            </a:r>
            <a:r>
              <a:rPr lang="en-US" b="1" dirty="0"/>
              <a:t>Run Output:</a:t>
            </a:r>
          </a:p>
          <a:p>
            <a:r>
              <a:rPr lang="en-US" dirty="0"/>
              <a:t>Enter the values of a and b</a:t>
            </a:r>
          </a:p>
          <a:p>
            <a:r>
              <a:rPr lang="en-US" dirty="0" smtClean="0"/>
              <a:t>10   10</a:t>
            </a:r>
            <a:endParaRPr lang="en-US" dirty="0"/>
          </a:p>
          <a:p>
            <a:r>
              <a:rPr lang="en-US" dirty="0"/>
              <a:t>exception caught : x </a:t>
            </a:r>
            <a:r>
              <a:rPr lang="en-US" dirty="0" smtClean="0"/>
              <a:t>=0</a:t>
            </a:r>
            <a:endParaRPr lang="en-US" dirty="0"/>
          </a:p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="" xmlns:p14="http://schemas.microsoft.com/office/powerpoint/2010/main" val="392757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Often, Exceptions are thrown by functions that </a:t>
            </a:r>
            <a:r>
              <a:rPr lang="en-US" dirty="0" smtClean="0"/>
              <a:t>are  invoked </a:t>
            </a:r>
            <a:r>
              <a:rPr lang="en-US" dirty="0"/>
              <a:t>from within the try blocks.</a:t>
            </a:r>
          </a:p>
          <a:p>
            <a:pPr algn="just"/>
            <a:r>
              <a:rPr lang="en-US" dirty="0"/>
              <a:t> The point at which the throw is executed is </a:t>
            </a:r>
            <a:r>
              <a:rPr lang="en-US" dirty="0" smtClean="0"/>
              <a:t>called  the </a:t>
            </a:r>
            <a:r>
              <a:rPr lang="en-US" dirty="0"/>
              <a:t>throw point.</a:t>
            </a:r>
          </a:p>
          <a:p>
            <a:pPr algn="just"/>
            <a:r>
              <a:rPr lang="en-US" dirty="0" smtClean="0"/>
              <a:t>Once </a:t>
            </a:r>
            <a:r>
              <a:rPr lang="en-US" dirty="0"/>
              <a:t>an exception is thrown to the catch block</a:t>
            </a:r>
            <a:r>
              <a:rPr lang="en-US" dirty="0" smtClean="0"/>
              <a:t>, control </a:t>
            </a:r>
            <a:r>
              <a:rPr lang="en-US" dirty="0"/>
              <a:t>cannot return to the throw point.</a:t>
            </a:r>
          </a:p>
        </p:txBody>
      </p:sp>
    </p:spTree>
    <p:extLst>
      <p:ext uri="{BB962C8B-B14F-4D97-AF65-F5344CB8AC3E}">
        <p14:creationId xmlns="" xmlns:p14="http://schemas.microsoft.com/office/powerpoint/2010/main" val="211163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/>
            </a:r>
            <a:br>
              <a:rPr lang="en-US" sz="3300" dirty="0" smtClean="0"/>
            </a:br>
            <a:r>
              <a:rPr lang="en-US" sz="3300" dirty="0" smtClean="0"/>
              <a:t>// </a:t>
            </a:r>
            <a:r>
              <a:rPr lang="en-US" sz="3300" dirty="0"/>
              <a:t>The try block is immediately </a:t>
            </a:r>
            <a:r>
              <a:rPr lang="en-US" sz="3300" dirty="0" smtClean="0"/>
              <a:t>followed </a:t>
            </a:r>
            <a:r>
              <a:rPr lang="en-US" sz="3300" dirty="0"/>
              <a:t>by the catch block</a:t>
            </a:r>
            <a:r>
              <a:rPr lang="en-US" sz="3300" dirty="0" smtClean="0"/>
              <a:t>, irrespective </a:t>
            </a:r>
            <a:r>
              <a:rPr lang="en-US" sz="3300" dirty="0"/>
              <a:t>of the location of throw point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4139960" cy="49685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1268760"/>
            <a:ext cx="38519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#</a:t>
            </a:r>
            <a:r>
              <a:rPr lang="en-US" sz="2000" dirty="0"/>
              <a:t>include&lt;</a:t>
            </a:r>
            <a:r>
              <a:rPr lang="en-US" sz="2000" dirty="0" err="1"/>
              <a:t>iostream</a:t>
            </a:r>
            <a:r>
              <a:rPr lang="en-US" sz="2000" dirty="0"/>
              <a:t>&gt;</a:t>
            </a:r>
          </a:p>
          <a:p>
            <a:r>
              <a:rPr lang="en-US" sz="2000" dirty="0"/>
              <a:t>using namespace </a:t>
            </a:r>
            <a:r>
              <a:rPr lang="en-US" sz="2000" dirty="0" err="1"/>
              <a:t>std</a:t>
            </a:r>
            <a:r>
              <a:rPr lang="en-US" sz="2000" dirty="0"/>
              <a:t>;</a:t>
            </a:r>
          </a:p>
          <a:p>
            <a:r>
              <a:rPr lang="en-US" sz="2000" dirty="0"/>
              <a:t>void divide(</a:t>
            </a:r>
            <a:r>
              <a:rPr lang="en-US" sz="2000" dirty="0" err="1"/>
              <a:t>int</a:t>
            </a:r>
            <a:r>
              <a:rPr lang="en-US" sz="2000" dirty="0"/>
              <a:t> x</a:t>
            </a:r>
            <a:r>
              <a:rPr lang="en-US" sz="2000" dirty="0" smtClean="0"/>
              <a:t>, 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y</a:t>
            </a:r>
            <a:r>
              <a:rPr lang="en-US" sz="2000" dirty="0" smtClean="0"/>
              <a:t>, 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z)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 smtClean="0"/>
              <a:t>      </a:t>
            </a:r>
            <a:r>
              <a:rPr lang="en-US" sz="2000" dirty="0" err="1" smtClean="0"/>
              <a:t>cout</a:t>
            </a:r>
            <a:r>
              <a:rPr lang="en-US" sz="2000" dirty="0"/>
              <a:t>&lt;&lt;"inside the function\n";</a:t>
            </a:r>
          </a:p>
          <a:p>
            <a:r>
              <a:rPr lang="en-US" sz="2000" dirty="0"/>
              <a:t>      </a:t>
            </a:r>
            <a:r>
              <a:rPr lang="en-US" sz="2000" dirty="0" smtClean="0"/>
              <a:t> </a:t>
            </a:r>
            <a:r>
              <a:rPr lang="en-US" sz="2000" dirty="0"/>
              <a:t>if((x-y)!=0)</a:t>
            </a:r>
          </a:p>
          <a:p>
            <a:r>
              <a:rPr lang="en-US" sz="2000" dirty="0"/>
              <a:t>         { </a:t>
            </a:r>
            <a:r>
              <a:rPr lang="en-US" sz="2000" dirty="0" err="1" smtClean="0"/>
              <a:t>int</a:t>
            </a:r>
            <a:r>
              <a:rPr lang="en-US" sz="2000" dirty="0" smtClean="0"/>
              <a:t>  </a:t>
            </a:r>
            <a:r>
              <a:rPr lang="en-US" sz="2000" dirty="0"/>
              <a:t>R=z/(x-y);</a:t>
            </a:r>
          </a:p>
          <a:p>
            <a:r>
              <a:rPr lang="en-US" sz="2000" dirty="0"/>
              <a:t>           </a:t>
            </a:r>
            <a:r>
              <a:rPr lang="en-US" sz="2000" dirty="0" err="1"/>
              <a:t>cout</a:t>
            </a:r>
            <a:r>
              <a:rPr lang="en-US" sz="2000" dirty="0"/>
              <a:t>&lt;&lt;"Result="&lt;&lt;R;}</a:t>
            </a:r>
          </a:p>
          <a:p>
            <a:r>
              <a:rPr lang="en-US" sz="2000" dirty="0"/>
              <a:t>      </a:t>
            </a:r>
            <a:r>
              <a:rPr lang="en-US" sz="2000" dirty="0" smtClean="0"/>
              <a:t> </a:t>
            </a:r>
            <a:r>
              <a:rPr lang="en-US" sz="2000" dirty="0"/>
              <a:t>else{</a:t>
            </a:r>
          </a:p>
          <a:p>
            <a:r>
              <a:rPr lang="en-US" sz="2000" dirty="0"/>
              <a:t>        throw(x-y);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 smtClean="0"/>
              <a:t>}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4355976" y="1295256"/>
            <a:ext cx="4572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err="1"/>
              <a:t>int</a:t>
            </a:r>
            <a:r>
              <a:rPr lang="en-US" sz="2000" dirty="0"/>
              <a:t> main()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try{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cout</a:t>
            </a:r>
            <a:r>
              <a:rPr lang="en-US" sz="2000" dirty="0"/>
              <a:t>&lt;&lt;"inside try block\n";</a:t>
            </a:r>
          </a:p>
          <a:p>
            <a:r>
              <a:rPr lang="en-US" sz="2000" dirty="0"/>
              <a:t>      divide(10,20,30);</a:t>
            </a:r>
          </a:p>
          <a:p>
            <a:r>
              <a:rPr lang="en-US" sz="2000" dirty="0"/>
              <a:t>      divide(10,10,20);</a:t>
            </a:r>
          </a:p>
          <a:p>
            <a:r>
              <a:rPr lang="en-US" sz="2000" dirty="0"/>
              <a:t>      }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</a:t>
            </a:r>
            <a:r>
              <a:rPr lang="en-US" sz="2000" dirty="0"/>
              <a:t>catch(</a:t>
            </a:r>
            <a:r>
              <a:rPr lang="en-US" sz="2000" dirty="0" err="1"/>
              <a:t>int</a:t>
            </a:r>
            <a:r>
              <a:rPr lang="en-US" sz="2000" dirty="0"/>
              <a:t> i)  </a:t>
            </a:r>
            <a:r>
              <a:rPr lang="en-US" sz="2000" dirty="0" smtClean="0"/>
              <a:t>            //</a:t>
            </a:r>
            <a:r>
              <a:rPr lang="en-US" sz="2000" dirty="0"/>
              <a:t>catches exception</a:t>
            </a:r>
          </a:p>
          <a:p>
            <a:r>
              <a:rPr lang="en-US" sz="2000" dirty="0" smtClean="0"/>
              <a:t>   </a:t>
            </a:r>
            <a:r>
              <a:rPr lang="en-US" sz="2000" dirty="0"/>
              <a:t>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cout</a:t>
            </a:r>
            <a:r>
              <a:rPr lang="en-US" sz="2000" dirty="0"/>
              <a:t>&lt;&lt;"\</a:t>
            </a:r>
            <a:r>
              <a:rPr lang="en-US" sz="2000" dirty="0" err="1"/>
              <a:t>ncaught</a:t>
            </a:r>
            <a:r>
              <a:rPr lang="en-US" sz="2000" dirty="0"/>
              <a:t> exception";</a:t>
            </a:r>
          </a:p>
          <a:p>
            <a:r>
              <a:rPr lang="en-US" sz="2000" dirty="0" smtClean="0"/>
              <a:t>   </a:t>
            </a:r>
            <a:r>
              <a:rPr lang="en-US" sz="2000" dirty="0"/>
              <a:t>}</a:t>
            </a:r>
          </a:p>
          <a:p>
            <a:r>
              <a:rPr lang="en-US" sz="2000" dirty="0"/>
              <a:t>return 0;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5734" y="4869160"/>
            <a:ext cx="298884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</a:t>
            </a:r>
            <a:r>
              <a:rPr lang="en-US" b="1" dirty="0"/>
              <a:t>:</a:t>
            </a:r>
          </a:p>
          <a:p>
            <a:r>
              <a:rPr lang="en-US" dirty="0" smtClean="0"/>
              <a:t>Inside try block</a:t>
            </a:r>
            <a:endParaRPr lang="en-US" dirty="0"/>
          </a:p>
          <a:p>
            <a:r>
              <a:rPr lang="en-US" dirty="0" smtClean="0"/>
              <a:t>Inside the function</a:t>
            </a:r>
          </a:p>
          <a:p>
            <a:r>
              <a:rPr lang="en-US" dirty="0" smtClean="0"/>
              <a:t>Result = -3</a:t>
            </a:r>
          </a:p>
          <a:p>
            <a:r>
              <a:rPr lang="en-US" dirty="0"/>
              <a:t>Inside the function</a:t>
            </a:r>
          </a:p>
          <a:p>
            <a:r>
              <a:rPr lang="en-US" dirty="0" smtClean="0"/>
              <a:t>Caught exception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8593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throw </a:t>
            </a:r>
            <a:r>
              <a:rPr lang="en-US" dirty="0"/>
              <a:t>statement can have one of the </a:t>
            </a:r>
            <a:r>
              <a:rPr lang="en-US" dirty="0" smtClean="0"/>
              <a:t>following 3 </a:t>
            </a:r>
            <a:r>
              <a:rPr lang="en-US" dirty="0"/>
              <a:t>forms</a:t>
            </a:r>
          </a:p>
          <a:p>
            <a:pPr lvl="1" algn="just"/>
            <a:r>
              <a:rPr lang="en-US" dirty="0"/>
              <a:t> throw(exception)</a:t>
            </a:r>
          </a:p>
          <a:p>
            <a:pPr lvl="1" algn="just"/>
            <a:r>
              <a:rPr lang="en-US" dirty="0"/>
              <a:t> throw exception</a:t>
            </a:r>
          </a:p>
          <a:p>
            <a:pPr lvl="1" algn="just"/>
            <a:r>
              <a:rPr lang="en-US" dirty="0"/>
              <a:t> throw //used to re-throw a exception</a:t>
            </a:r>
          </a:p>
          <a:p>
            <a:pPr algn="just"/>
            <a:r>
              <a:rPr lang="en-US" dirty="0"/>
              <a:t> The operand object exception can be of any type</a:t>
            </a:r>
            <a:r>
              <a:rPr lang="en-US" dirty="0" smtClean="0"/>
              <a:t>, including </a:t>
            </a:r>
            <a:r>
              <a:rPr lang="en-US" b="1" dirty="0"/>
              <a:t>constant</a:t>
            </a:r>
            <a:r>
              <a:rPr lang="en-US" dirty="0"/>
              <a:t>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also possible to throw an object not </a:t>
            </a:r>
            <a:r>
              <a:rPr lang="en-US" dirty="0" smtClean="0"/>
              <a:t>intended for </a:t>
            </a:r>
            <a:r>
              <a:rPr lang="en-US" dirty="0"/>
              <a:t>error handling.</a:t>
            </a:r>
          </a:p>
        </p:txBody>
      </p:sp>
    </p:spTree>
    <p:extLst>
      <p:ext uri="{BB962C8B-B14F-4D97-AF65-F5344CB8AC3E}">
        <p14:creationId xmlns="" xmlns:p14="http://schemas.microsoft.com/office/powerpoint/2010/main" val="243329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Throw point can be in a deeply nested scope </a:t>
            </a:r>
            <a:r>
              <a:rPr lang="en-US" dirty="0" smtClean="0"/>
              <a:t>within a </a:t>
            </a:r>
            <a:r>
              <a:rPr lang="en-US" dirty="0"/>
              <a:t>try block or in a deeply nested function call.</a:t>
            </a:r>
          </a:p>
          <a:p>
            <a:pPr algn="just"/>
            <a:r>
              <a:rPr lang="en-US" dirty="0"/>
              <a:t> In any case, control is transferred to the </a:t>
            </a:r>
            <a:r>
              <a:rPr lang="en-US" dirty="0" smtClean="0"/>
              <a:t>catch statement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363487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52" y="1344055"/>
            <a:ext cx="5436104" cy="4968552"/>
          </a:xfrm>
        </p:spPr>
        <p:txBody>
          <a:bodyPr/>
          <a:lstStyle/>
          <a:p>
            <a:pPr algn="just"/>
            <a:r>
              <a:rPr lang="en-US" dirty="0"/>
              <a:t>The type indicates </a:t>
            </a:r>
            <a:r>
              <a:rPr lang="en-US" dirty="0" smtClean="0"/>
              <a:t>the type </a:t>
            </a:r>
            <a:r>
              <a:rPr lang="en-US" dirty="0"/>
              <a:t>of exception </a:t>
            </a:r>
            <a:r>
              <a:rPr lang="en-US" dirty="0" smtClean="0"/>
              <a:t>the catch </a:t>
            </a:r>
            <a:r>
              <a:rPr lang="en-US" dirty="0"/>
              <a:t>block handles.</a:t>
            </a:r>
          </a:p>
          <a:p>
            <a:pPr algn="just"/>
            <a:r>
              <a:rPr lang="en-US" dirty="0"/>
              <a:t> T</a:t>
            </a:r>
            <a:r>
              <a:rPr lang="en-US" dirty="0" smtClean="0"/>
              <a:t>he </a:t>
            </a:r>
            <a:r>
              <a:rPr lang="en-US" dirty="0"/>
              <a:t>parameter </a:t>
            </a:r>
            <a:r>
              <a:rPr lang="en-US" dirty="0" err="1"/>
              <a:t>arg</a:t>
            </a:r>
            <a:r>
              <a:rPr lang="en-US" dirty="0"/>
              <a:t> is </a:t>
            </a:r>
            <a:r>
              <a:rPr lang="en-US" dirty="0" smtClean="0"/>
              <a:t>an </a:t>
            </a:r>
            <a:r>
              <a:rPr lang="en-US" b="1" dirty="0" smtClean="0"/>
              <a:t>optional </a:t>
            </a:r>
            <a:r>
              <a:rPr lang="en-US" dirty="0" smtClean="0"/>
              <a:t>parameter </a:t>
            </a:r>
            <a:r>
              <a:rPr lang="en-US" dirty="0"/>
              <a:t>name.</a:t>
            </a:r>
          </a:p>
          <a:p>
            <a:pPr algn="just"/>
            <a:r>
              <a:rPr lang="en-US" dirty="0"/>
              <a:t> The catch </a:t>
            </a:r>
            <a:r>
              <a:rPr lang="en-US" dirty="0" smtClean="0"/>
              <a:t>statement catches </a:t>
            </a:r>
            <a:r>
              <a:rPr lang="en-US" dirty="0"/>
              <a:t>an </a:t>
            </a:r>
            <a:r>
              <a:rPr lang="en-US" dirty="0" smtClean="0"/>
              <a:t>exception whose </a:t>
            </a:r>
            <a:r>
              <a:rPr lang="en-US" dirty="0"/>
              <a:t>type </a:t>
            </a:r>
            <a:r>
              <a:rPr lang="en-US" dirty="0" smtClean="0"/>
              <a:t>matches with </a:t>
            </a:r>
            <a:r>
              <a:rPr lang="en-US" dirty="0"/>
              <a:t>the type of </a:t>
            </a:r>
            <a:r>
              <a:rPr lang="en-US" dirty="0" smtClean="0"/>
              <a:t>the catch </a:t>
            </a:r>
            <a:r>
              <a:rPr lang="en-US" dirty="0"/>
              <a:t>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16216" y="1344055"/>
            <a:ext cx="28803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catch(type </a:t>
            </a:r>
            <a:r>
              <a:rPr lang="en-US" sz="2800" dirty="0" err="1"/>
              <a:t>arg</a:t>
            </a:r>
            <a:r>
              <a:rPr lang="en-US" sz="2800" dirty="0"/>
              <a:t>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…</a:t>
            </a:r>
          </a:p>
          <a:p>
            <a:r>
              <a:rPr lang="en-US" sz="2800" dirty="0" smtClean="0"/>
              <a:t>…</a:t>
            </a:r>
          </a:p>
          <a:p>
            <a:r>
              <a:rPr lang="en-US" sz="2800" dirty="0" smtClean="0"/>
              <a:t>}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46990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If </a:t>
            </a:r>
            <a:r>
              <a:rPr lang="en-US" dirty="0"/>
              <a:t>the parameter in the catch statement is named</a:t>
            </a:r>
            <a:r>
              <a:rPr lang="en-US" dirty="0" smtClean="0"/>
              <a:t>, then </a:t>
            </a:r>
            <a:r>
              <a:rPr lang="en-US" dirty="0"/>
              <a:t>the parameter can be used in the </a:t>
            </a:r>
            <a:r>
              <a:rPr lang="en-US" dirty="0" smtClean="0"/>
              <a:t>exception handling </a:t>
            </a:r>
            <a:r>
              <a:rPr lang="en-US" dirty="0"/>
              <a:t>code.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a catch statement does not match the exception </a:t>
            </a:r>
            <a:r>
              <a:rPr lang="en-US" dirty="0" smtClean="0"/>
              <a:t>it is </a:t>
            </a:r>
            <a:r>
              <a:rPr lang="en-US" dirty="0"/>
              <a:t>skipped.</a:t>
            </a:r>
          </a:p>
          <a:p>
            <a:pPr algn="just"/>
            <a:r>
              <a:rPr lang="en-US" dirty="0" smtClean="0"/>
              <a:t>More </a:t>
            </a:r>
            <a:r>
              <a:rPr lang="en-US" dirty="0"/>
              <a:t>than one catch statement can be </a:t>
            </a:r>
            <a:r>
              <a:rPr lang="en-US" dirty="0" smtClean="0"/>
              <a:t>associated with </a:t>
            </a:r>
            <a:r>
              <a:rPr lang="en-US" dirty="0"/>
              <a:t>a try block.</a:t>
            </a:r>
          </a:p>
        </p:txBody>
      </p:sp>
    </p:spTree>
    <p:extLst>
      <p:ext uri="{BB962C8B-B14F-4D97-AF65-F5344CB8AC3E}">
        <p14:creationId xmlns="" xmlns:p14="http://schemas.microsoft.com/office/powerpoint/2010/main" val="420394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30" y="260648"/>
            <a:ext cx="9000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CATCHING </a:t>
            </a:r>
            <a:r>
              <a:rPr lang="en-US" dirty="0" smtClean="0"/>
              <a:t>MECHANISM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 When an exception is thrown, the </a:t>
            </a:r>
            <a:r>
              <a:rPr lang="en-US" dirty="0" smtClean="0"/>
              <a:t>exception handlers </a:t>
            </a:r>
            <a:r>
              <a:rPr lang="en-US" dirty="0"/>
              <a:t>are searched </a:t>
            </a:r>
            <a:r>
              <a:rPr lang="en-US" b="1" dirty="0"/>
              <a:t>in order </a:t>
            </a:r>
            <a:r>
              <a:rPr lang="en-US" dirty="0"/>
              <a:t>for a match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/>
              <a:t> The first handler that yields a match is executed.</a:t>
            </a:r>
          </a:p>
          <a:p>
            <a:pPr algn="just"/>
            <a:r>
              <a:rPr lang="en-US" dirty="0"/>
              <a:t> If several catch statement matches the type of </a:t>
            </a:r>
            <a:r>
              <a:rPr lang="en-US" dirty="0" smtClean="0"/>
              <a:t>an exception </a:t>
            </a:r>
            <a:r>
              <a:rPr lang="en-US" dirty="0"/>
              <a:t>the first handler that matches </a:t>
            </a:r>
            <a:r>
              <a:rPr lang="en-US" dirty="0" smtClean="0"/>
              <a:t>the exception </a:t>
            </a:r>
            <a:r>
              <a:rPr lang="en-US" dirty="0"/>
              <a:t>type is executed.</a:t>
            </a:r>
          </a:p>
        </p:txBody>
      </p:sp>
    </p:spTree>
    <p:extLst>
      <p:ext uri="{BB962C8B-B14F-4D97-AF65-F5344CB8AC3E}">
        <p14:creationId xmlns="" xmlns:p14="http://schemas.microsoft.com/office/powerpoint/2010/main" val="163611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type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618" y="1177424"/>
            <a:ext cx="4788032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Catching class type exceptions.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cstring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str_what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[80];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what;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{ 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str_what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0; what = 0; }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(char *s,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e) {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strcpy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str_what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s);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= e;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endParaRPr lang="pt-B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8024" y="1196752"/>
            <a:ext cx="4572000" cy="53245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try {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"Enter a positive number: ";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&gt;&gt; i;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if(i&lt;0)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throw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("Not Positive", i);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e) { // catch an error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e.str_what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": ";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e.what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"\n";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;}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Enter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positive number: -4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 Positive: -4</a:t>
            </a:r>
          </a:p>
        </p:txBody>
      </p:sp>
    </p:spTree>
    <p:extLst>
      <p:ext uri="{BB962C8B-B14F-4D97-AF65-F5344CB8AC3E}">
        <p14:creationId xmlns="" xmlns:p14="http://schemas.microsoft.com/office/powerpoint/2010/main" val="376769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Derived-Class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catch </a:t>
            </a:r>
            <a:r>
              <a:rPr lang="en-US" dirty="0"/>
              <a:t>clause for a </a:t>
            </a:r>
            <a:r>
              <a:rPr lang="en-US" dirty="0" smtClean="0"/>
              <a:t>base class </a:t>
            </a:r>
            <a:r>
              <a:rPr lang="en-US" dirty="0"/>
              <a:t>will also match any class derived from that base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Thus</a:t>
            </a:r>
            <a:r>
              <a:rPr lang="en-US" dirty="0"/>
              <a:t>, if you want to </a:t>
            </a:r>
            <a:r>
              <a:rPr lang="en-US" dirty="0" smtClean="0"/>
              <a:t>catch exceptions </a:t>
            </a:r>
            <a:r>
              <a:rPr lang="en-US" dirty="0"/>
              <a:t>of both a base class type and a derived class type, put the derived class </a:t>
            </a:r>
            <a:r>
              <a:rPr lang="en-US" dirty="0" smtClean="0"/>
              <a:t>first in </a:t>
            </a:r>
            <a:r>
              <a:rPr lang="en-US" dirty="0"/>
              <a:t>the </a:t>
            </a:r>
            <a:r>
              <a:rPr lang="en-US" b="1" dirty="0"/>
              <a:t>catch </a:t>
            </a:r>
            <a:r>
              <a:rPr lang="en-US" dirty="0"/>
              <a:t>sequence. If you don't do this, the base class </a:t>
            </a:r>
            <a:r>
              <a:rPr lang="en-US" b="1" dirty="0"/>
              <a:t>catch </a:t>
            </a:r>
            <a:r>
              <a:rPr lang="en-US" dirty="0"/>
              <a:t>will also catch all</a:t>
            </a:r>
          </a:p>
          <a:p>
            <a:pPr marL="0" indent="0" algn="just">
              <a:buNone/>
            </a:pPr>
            <a:r>
              <a:rPr lang="en-US" dirty="0" smtClean="0"/>
              <a:t>   derived </a:t>
            </a:r>
            <a:r>
              <a:rPr lang="en-US" dirty="0"/>
              <a:t>classes.</a:t>
            </a:r>
          </a:p>
        </p:txBody>
      </p:sp>
    </p:spTree>
    <p:extLst>
      <p:ext uri="{BB962C8B-B14F-4D97-AF65-F5344CB8AC3E}">
        <p14:creationId xmlns="" xmlns:p14="http://schemas.microsoft.com/office/powerpoint/2010/main" val="88463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8720"/>
            <a:ext cx="4427984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Catching derived classes.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 B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 D: public B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derived;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try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throw derived;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0" y="1052736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catch(B b) {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"Caught a base class.\n";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catch(D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d) {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"This won't execute.\n";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return 0;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5160" y="3573016"/>
            <a:ext cx="2988840" cy="984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Caught a base class.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655906" y="4941168"/>
            <a:ext cx="5948539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Because </a:t>
            </a:r>
            <a:r>
              <a:rPr lang="en-US" b="1" dirty="0"/>
              <a:t>derived </a:t>
            </a:r>
            <a:r>
              <a:rPr lang="en-US" dirty="0"/>
              <a:t>is an object that has </a:t>
            </a:r>
            <a:r>
              <a:rPr lang="en-US" b="1" dirty="0"/>
              <a:t>B </a:t>
            </a:r>
            <a:r>
              <a:rPr lang="en-US" dirty="0"/>
              <a:t>as a base class, it will be caught by </a:t>
            </a:r>
            <a:r>
              <a:rPr lang="en-US" dirty="0" smtClean="0"/>
              <a:t>the first </a:t>
            </a:r>
            <a:r>
              <a:rPr lang="en-US" b="1" dirty="0"/>
              <a:t>catch </a:t>
            </a:r>
            <a:r>
              <a:rPr lang="en-US" dirty="0"/>
              <a:t>clause and the second clause will never execute. Some compilers will </a:t>
            </a:r>
            <a:r>
              <a:rPr lang="en-US" dirty="0" smtClean="0"/>
              <a:t>flag this </a:t>
            </a:r>
            <a:r>
              <a:rPr lang="en-US" dirty="0"/>
              <a:t>condition with a warning message. Others may issue an error. Either way, to </a:t>
            </a:r>
            <a:r>
              <a:rPr lang="en-US" dirty="0" smtClean="0"/>
              <a:t>fix this </a:t>
            </a:r>
            <a:r>
              <a:rPr lang="en-US" dirty="0"/>
              <a:t>condition, reverse the order of the </a:t>
            </a:r>
            <a:r>
              <a:rPr lang="en-US" b="1" dirty="0"/>
              <a:t>catch </a:t>
            </a:r>
            <a:r>
              <a:rPr lang="en-US" dirty="0"/>
              <a:t>clauses.</a:t>
            </a:r>
          </a:p>
        </p:txBody>
      </p:sp>
    </p:spTree>
    <p:extLst>
      <p:ext uri="{BB962C8B-B14F-4D97-AF65-F5344CB8AC3E}">
        <p14:creationId xmlns="" xmlns:p14="http://schemas.microsoft.com/office/powerpoint/2010/main" val="429329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catch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9000000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try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try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block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type1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arg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catch block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type2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arg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catch block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type3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arg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catch block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5976" y="1556035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typeN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i="1" dirty="0" err="1">
                <a:latin typeface="Times New Roman" pitchFamily="18" charset="0"/>
                <a:cs typeface="Times New Roman" pitchFamily="18" charset="0"/>
              </a:rPr>
              <a:t>arg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catch block}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1684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87424"/>
            <a:ext cx="9000000" cy="1143000"/>
          </a:xfrm>
        </p:spPr>
        <p:txBody>
          <a:bodyPr/>
          <a:lstStyle/>
          <a:p>
            <a:r>
              <a:rPr lang="en-US" dirty="0" smtClean="0"/>
              <a:t>Example(Multiple catches)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1480"/>
            <a:ext cx="5441045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#include &lt;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iostream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using namespace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std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// Different types of exceptions can be caught.</a:t>
            </a: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void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Xhandler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test)</a:t>
            </a: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{ </a:t>
            </a: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try</a:t>
            </a: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{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if(test) 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	throw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test;</a:t>
            </a: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else</a:t>
            </a: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	throw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"Value is zero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";</a:t>
            </a: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}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catch(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int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) </a:t>
            </a: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{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&lt;&lt; "Caught Exception #: " &lt;&lt; i &lt;&lt; '\n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';</a:t>
            </a: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}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catch(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const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char *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str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) {</a:t>
            </a:r>
          </a:p>
          <a:p>
            <a:pPr marL="0" indent="0">
              <a:buNone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&lt;&lt; "Caught a string: ";</a:t>
            </a:r>
          </a:p>
          <a:p>
            <a:pPr marL="0" indent="0">
              <a:buNone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&lt;&lt;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str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&lt;&lt; '\n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';}}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96136" y="738697"/>
            <a:ext cx="36724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dirty="0">
                <a:latin typeface="Arial" pitchFamily="34" charset="0"/>
                <a:cs typeface="Arial" pitchFamily="34" charset="0"/>
              </a:rPr>
              <a:t> main()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{</a:t>
            </a:r>
          </a:p>
          <a:p>
            <a:r>
              <a:rPr lang="en-US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dirty="0">
                <a:latin typeface="Arial" pitchFamily="34" charset="0"/>
                <a:cs typeface="Arial" pitchFamily="34" charset="0"/>
              </a:rPr>
              <a:t> &lt;&lt; "Start\n";</a:t>
            </a:r>
          </a:p>
          <a:p>
            <a:r>
              <a:rPr lang="en-US" dirty="0" err="1">
                <a:latin typeface="Arial" pitchFamily="34" charset="0"/>
                <a:cs typeface="Arial" pitchFamily="34" charset="0"/>
              </a:rPr>
              <a:t>Xhandler</a:t>
            </a:r>
            <a:r>
              <a:rPr lang="en-US" dirty="0">
                <a:latin typeface="Arial" pitchFamily="34" charset="0"/>
                <a:cs typeface="Arial" pitchFamily="34" charset="0"/>
              </a:rPr>
              <a:t>(1);</a:t>
            </a:r>
          </a:p>
          <a:p>
            <a:r>
              <a:rPr lang="en-US" dirty="0" err="1">
                <a:latin typeface="Arial" pitchFamily="34" charset="0"/>
                <a:cs typeface="Arial" pitchFamily="34" charset="0"/>
              </a:rPr>
              <a:t>Xhandler</a:t>
            </a:r>
            <a:r>
              <a:rPr lang="en-US" dirty="0">
                <a:latin typeface="Arial" pitchFamily="34" charset="0"/>
                <a:cs typeface="Arial" pitchFamily="34" charset="0"/>
              </a:rPr>
              <a:t>(2);</a:t>
            </a:r>
          </a:p>
          <a:p>
            <a:r>
              <a:rPr lang="en-US" dirty="0" err="1">
                <a:latin typeface="Arial" pitchFamily="34" charset="0"/>
                <a:cs typeface="Arial" pitchFamily="34" charset="0"/>
              </a:rPr>
              <a:t>Xhandler</a:t>
            </a:r>
            <a:r>
              <a:rPr lang="en-US" dirty="0">
                <a:latin typeface="Arial" pitchFamily="34" charset="0"/>
                <a:cs typeface="Arial" pitchFamily="34" charset="0"/>
              </a:rPr>
              <a:t>(0);</a:t>
            </a:r>
          </a:p>
          <a:p>
            <a:r>
              <a:rPr lang="en-US" dirty="0" err="1">
                <a:latin typeface="Arial" pitchFamily="34" charset="0"/>
                <a:cs typeface="Arial" pitchFamily="34" charset="0"/>
              </a:rPr>
              <a:t>Xhandler</a:t>
            </a:r>
            <a:r>
              <a:rPr lang="en-US" dirty="0">
                <a:latin typeface="Arial" pitchFamily="34" charset="0"/>
                <a:cs typeface="Arial" pitchFamily="34" charset="0"/>
              </a:rPr>
              <a:t>(3);</a:t>
            </a:r>
          </a:p>
          <a:p>
            <a:r>
              <a:rPr lang="en-US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dirty="0">
                <a:latin typeface="Arial" pitchFamily="34" charset="0"/>
                <a:cs typeface="Arial" pitchFamily="34" charset="0"/>
              </a:rPr>
              <a:t> &lt;&lt; "End";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return 0;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1216" y="4653136"/>
            <a:ext cx="298884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Caught Exception #: 1</a:t>
            </a:r>
          </a:p>
          <a:p>
            <a:r>
              <a:rPr lang="en-US" dirty="0"/>
              <a:t>Caught Exception #: 2</a:t>
            </a:r>
          </a:p>
          <a:p>
            <a:r>
              <a:rPr lang="en-US" dirty="0"/>
              <a:t>Caught a string: Value is zero</a:t>
            </a:r>
          </a:p>
          <a:p>
            <a:r>
              <a:rPr lang="en-US" dirty="0"/>
              <a:t>Caught Exception #: 3</a:t>
            </a:r>
          </a:p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="" xmlns:p14="http://schemas.microsoft.com/office/powerpoint/2010/main" val="331946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89" y="260648"/>
            <a:ext cx="9000000" cy="792088"/>
          </a:xfrm>
        </p:spPr>
        <p:txBody>
          <a:bodyPr>
            <a:normAutofit fontScale="90000"/>
          </a:bodyPr>
          <a:lstStyle/>
          <a:p>
            <a:r>
              <a:rPr lang="en-US" dirty="0"/>
              <a:t>Catching All Exceptions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 </a:t>
            </a:r>
            <a:r>
              <a:rPr lang="en-US" dirty="0"/>
              <a:t>some circumstances you will want an exception handler to catch all </a:t>
            </a:r>
            <a:r>
              <a:rPr lang="en-US" dirty="0" smtClean="0"/>
              <a:t>exceptions instead </a:t>
            </a:r>
            <a:r>
              <a:rPr lang="en-US" dirty="0"/>
              <a:t>of just a certain type</a:t>
            </a:r>
            <a:r>
              <a:rPr lang="en-US" dirty="0" smtClean="0"/>
              <a:t>. </a:t>
            </a:r>
            <a:r>
              <a:rPr lang="en-US" dirty="0"/>
              <a:t>Simply use this form of </a:t>
            </a:r>
            <a:r>
              <a:rPr lang="en-US" b="1" dirty="0"/>
              <a:t>catch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smtClean="0"/>
              <a:t>	catch(...) {</a:t>
            </a:r>
          </a:p>
          <a:p>
            <a:pPr marL="0" indent="0">
              <a:buNone/>
            </a:pPr>
            <a:r>
              <a:rPr lang="en-US" dirty="0" smtClean="0"/>
              <a:t>	// </a:t>
            </a:r>
            <a:r>
              <a:rPr lang="en-US" i="1" dirty="0" smtClean="0"/>
              <a:t>process all exceptions</a:t>
            </a:r>
          </a:p>
          <a:p>
            <a:pPr marL="0" indent="0">
              <a:buNone/>
            </a:pPr>
            <a:r>
              <a:rPr lang="en-US" dirty="0" smtClean="0"/>
              <a:t>	}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5821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6" y="260648"/>
            <a:ext cx="9000000" cy="864096"/>
          </a:xfrm>
        </p:spPr>
        <p:txBody>
          <a:bodyPr>
            <a:normAutofit fontScale="90000"/>
          </a:bodyPr>
          <a:lstStyle/>
          <a:p>
            <a:r>
              <a:rPr lang="en-US" dirty="0"/>
              <a:t>Catching All Exceptions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5004056" cy="496855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This example catches all exceptions.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test)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try{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if(test==0) throw test; // throw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if(test==1) throw 'a'; // throw char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if(test==2) throw 123.23; // throw double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catch(...) { // catch all exceptions</a:t>
            </a:r>
          </a:p>
          <a:p>
            <a:pPr marL="0" indent="0"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"Caught One!\n";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24128" y="1722941"/>
            <a:ext cx="331236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 err="1"/>
              <a:t>cout</a:t>
            </a:r>
            <a:r>
              <a:rPr lang="en-US" dirty="0"/>
              <a:t> &lt;&lt; "Start\n";</a:t>
            </a:r>
          </a:p>
          <a:p>
            <a:r>
              <a:rPr lang="en-US" dirty="0" err="1"/>
              <a:t>Xhandler</a:t>
            </a:r>
            <a:r>
              <a:rPr lang="en-US" dirty="0"/>
              <a:t>(0);</a:t>
            </a:r>
          </a:p>
          <a:p>
            <a:r>
              <a:rPr lang="en-US" dirty="0" err="1"/>
              <a:t>Xhandler</a:t>
            </a:r>
            <a:r>
              <a:rPr lang="en-US" dirty="0"/>
              <a:t>(1);</a:t>
            </a:r>
          </a:p>
          <a:p>
            <a:r>
              <a:rPr lang="en-US" dirty="0" err="1"/>
              <a:t>Xhandler</a:t>
            </a:r>
            <a:r>
              <a:rPr lang="en-US" dirty="0"/>
              <a:t>(2);</a:t>
            </a:r>
          </a:p>
          <a:p>
            <a:r>
              <a:rPr lang="en-US" dirty="0" err="1"/>
              <a:t>cout</a:t>
            </a:r>
            <a:r>
              <a:rPr lang="en-US" dirty="0"/>
              <a:t> &lt;&lt; "End";</a:t>
            </a:r>
          </a:p>
          <a:p>
            <a:r>
              <a:rPr lang="en-US" dirty="0" smtClean="0"/>
              <a:t>return </a:t>
            </a:r>
            <a:r>
              <a:rPr lang="en-US" dirty="0"/>
              <a:t>0;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1216" y="4653136"/>
            <a:ext cx="29888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Caught One!</a:t>
            </a:r>
          </a:p>
          <a:p>
            <a:r>
              <a:rPr lang="en-US" dirty="0"/>
              <a:t>Caught One!</a:t>
            </a:r>
          </a:p>
          <a:p>
            <a:r>
              <a:rPr lang="en-US" dirty="0"/>
              <a:t>Caught One!</a:t>
            </a:r>
          </a:p>
          <a:p>
            <a:r>
              <a:rPr lang="en-US" dirty="0"/>
              <a:t>End</a:t>
            </a:r>
            <a:endParaRPr lang="en-US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253440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RETHROWING AN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handler may decide to </a:t>
            </a:r>
            <a:r>
              <a:rPr lang="en-US" dirty="0" err="1"/>
              <a:t>rethrow</a:t>
            </a:r>
            <a:r>
              <a:rPr lang="en-US" dirty="0"/>
              <a:t> the </a:t>
            </a:r>
            <a:r>
              <a:rPr lang="en-US" dirty="0" smtClean="0"/>
              <a:t>exception caught </a:t>
            </a:r>
            <a:r>
              <a:rPr lang="en-US" dirty="0"/>
              <a:t>without processing it.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such a case we have to invoke </a:t>
            </a:r>
            <a:r>
              <a:rPr lang="en-US" b="1" dirty="0"/>
              <a:t>throw </a:t>
            </a:r>
            <a:r>
              <a:rPr lang="en-US" dirty="0" smtClean="0"/>
              <a:t>without any </a:t>
            </a:r>
            <a:r>
              <a:rPr lang="en-US" dirty="0"/>
              <a:t>arguments as shown below</a:t>
            </a:r>
          </a:p>
          <a:p>
            <a:pPr marL="0" indent="0" algn="just">
              <a:buNone/>
            </a:pPr>
            <a:r>
              <a:rPr lang="en-US" dirty="0" smtClean="0"/>
              <a:t>	throw</a:t>
            </a:r>
            <a:r>
              <a:rPr lang="en-US" dirty="0"/>
              <a:t>;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causes the current exception to be thrown </a:t>
            </a:r>
            <a:r>
              <a:rPr lang="en-US" dirty="0" smtClean="0"/>
              <a:t>to the </a:t>
            </a:r>
            <a:r>
              <a:rPr lang="en-US" dirty="0"/>
              <a:t>next enclosing try/catch sequence and is </a:t>
            </a:r>
            <a:r>
              <a:rPr lang="en-US" dirty="0" smtClean="0"/>
              <a:t>caught by </a:t>
            </a:r>
            <a:r>
              <a:rPr lang="en-US" dirty="0"/>
              <a:t>a catch statement listed after the enclosing </a:t>
            </a:r>
            <a:r>
              <a:rPr lang="en-US" dirty="0" smtClean="0"/>
              <a:t>try block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5622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Example of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rethrowing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 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4500000" cy="49685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#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include &lt;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iostream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&gt;</a:t>
            </a:r>
          </a:p>
          <a:p>
            <a:pPr marL="0" indent="0" algn="just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using namespace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std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0" indent="0" algn="just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void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Xhandler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()</a:t>
            </a:r>
          </a:p>
          <a:p>
            <a:pPr marL="0" indent="0" algn="just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{</a:t>
            </a:r>
          </a:p>
          <a:p>
            <a:pPr marL="0" indent="0" algn="just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try 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{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   throw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"hello";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	        //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throw a char *</a:t>
            </a:r>
          </a:p>
          <a:p>
            <a:pPr marL="0" indent="0" algn="just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}</a:t>
            </a:r>
          </a:p>
          <a:p>
            <a:pPr marL="0" indent="0" algn="just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catch(const char *) 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{ 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cout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&lt;&lt;"Caught char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* inside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Xhandler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\n";</a:t>
            </a:r>
          </a:p>
          <a:p>
            <a:pPr marL="0" indent="0" algn="just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throw ;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	//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rethrow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char * out of function</a:t>
            </a:r>
          </a:p>
          <a:p>
            <a:pPr marL="0" indent="0" algn="just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}</a:t>
            </a:r>
          </a:p>
          <a:p>
            <a:pPr marL="0" indent="0" algn="just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508104" y="1392537"/>
            <a:ext cx="388843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 err="1"/>
              <a:t>cout</a:t>
            </a:r>
            <a:r>
              <a:rPr lang="en-US" dirty="0"/>
              <a:t> &lt;&lt; "Start\n";</a:t>
            </a:r>
          </a:p>
          <a:p>
            <a:r>
              <a:rPr lang="en-US" dirty="0" smtClean="0"/>
              <a:t>try</a:t>
            </a:r>
          </a:p>
          <a:p>
            <a:r>
              <a:rPr lang="en-US" dirty="0" smtClean="0"/>
              <a:t>{</a:t>
            </a:r>
            <a:endParaRPr lang="en-US" dirty="0"/>
          </a:p>
          <a:p>
            <a:r>
              <a:rPr lang="en-US" dirty="0" err="1"/>
              <a:t>Xhandler</a:t>
            </a:r>
            <a:r>
              <a:rPr lang="en-US" dirty="0"/>
              <a:t>();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catch(const char </a:t>
            </a:r>
            <a:r>
              <a:rPr lang="en-US" dirty="0" smtClean="0"/>
              <a:t>*s) </a:t>
            </a:r>
            <a:r>
              <a:rPr lang="en-US" dirty="0"/>
              <a:t>{</a:t>
            </a:r>
          </a:p>
          <a:p>
            <a:r>
              <a:rPr lang="en-US" dirty="0" err="1"/>
              <a:t>cout</a:t>
            </a:r>
            <a:r>
              <a:rPr lang="en-US" dirty="0"/>
              <a:t> &lt;&lt; "Caught char * inside main\n</a:t>
            </a:r>
            <a:r>
              <a:rPr lang="en-US" dirty="0" smtClean="0"/>
              <a:t>";</a:t>
            </a:r>
          </a:p>
          <a:p>
            <a:r>
              <a:rPr lang="en-IN" dirty="0" err="1" smtClean="0"/>
              <a:t>c</a:t>
            </a:r>
            <a:r>
              <a:rPr lang="en-IN" smtClean="0"/>
              <a:t>out</a:t>
            </a:r>
            <a:r>
              <a:rPr lang="en-IN" dirty="0" smtClean="0"/>
              <a:t>&lt;&lt;s;</a:t>
            </a:r>
            <a:endParaRPr lang="en-US" dirty="0"/>
          </a:p>
          <a:p>
            <a:r>
              <a:rPr lang="en-US" dirty="0"/>
              <a:t>}</a:t>
            </a:r>
          </a:p>
          <a:p>
            <a:r>
              <a:rPr lang="en-US" dirty="0" err="1"/>
              <a:t>cout</a:t>
            </a:r>
            <a:r>
              <a:rPr lang="en-US" dirty="0"/>
              <a:t> &lt;&lt; "End";</a:t>
            </a:r>
          </a:p>
          <a:p>
            <a:r>
              <a:rPr lang="en-US" dirty="0"/>
              <a:t>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1216" y="4808857"/>
            <a:ext cx="298884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Caught char * inside </a:t>
            </a:r>
            <a:r>
              <a:rPr lang="en-US" dirty="0" err="1"/>
              <a:t>Xhandler</a:t>
            </a:r>
            <a:endParaRPr lang="en-US" dirty="0"/>
          </a:p>
          <a:p>
            <a:r>
              <a:rPr lang="en-US" dirty="0"/>
              <a:t>Caught char * inside main</a:t>
            </a:r>
          </a:p>
          <a:p>
            <a:r>
              <a:rPr lang="en-US" dirty="0" smtClean="0"/>
              <a:t>End</a:t>
            </a:r>
            <a:endParaRPr lang="en-US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249015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It is possible to restrict a function to throw </a:t>
            </a:r>
            <a:r>
              <a:rPr lang="en-US" dirty="0" smtClean="0"/>
              <a:t>certain specific </a:t>
            </a:r>
            <a:r>
              <a:rPr lang="en-US" dirty="0"/>
              <a:t>exceptions by adding a </a:t>
            </a:r>
            <a:r>
              <a:rPr lang="en-US" b="1" dirty="0"/>
              <a:t>throw </a:t>
            </a:r>
            <a:r>
              <a:rPr lang="en-US" dirty="0"/>
              <a:t>list clause </a:t>
            </a:r>
            <a:r>
              <a:rPr lang="en-US" dirty="0" smtClean="0"/>
              <a:t>to the </a:t>
            </a:r>
            <a:r>
              <a:rPr lang="en-US" dirty="0"/>
              <a:t>function definition.</a:t>
            </a:r>
          </a:p>
          <a:p>
            <a:pPr marL="400050" lvl="1" indent="0">
              <a:buNone/>
            </a:pPr>
            <a:r>
              <a:rPr lang="en-US" dirty="0"/>
              <a:t>type function(</a:t>
            </a:r>
            <a:r>
              <a:rPr lang="en-US" dirty="0" err="1"/>
              <a:t>arg</a:t>
            </a:r>
            <a:r>
              <a:rPr lang="en-US" dirty="0"/>
              <a:t>-list) throw(type-list)</a:t>
            </a:r>
          </a:p>
          <a:p>
            <a:pPr marL="400050" lvl="1" indent="0">
              <a:buNone/>
            </a:pPr>
            <a:r>
              <a:rPr lang="en-US" dirty="0"/>
              <a:t>{</a:t>
            </a:r>
          </a:p>
          <a:p>
            <a:pPr marL="400050" lvl="1" indent="0">
              <a:buNone/>
            </a:pPr>
            <a:r>
              <a:rPr lang="en-US" dirty="0"/>
              <a:t>… … …</a:t>
            </a:r>
          </a:p>
          <a:p>
            <a:pPr marL="400050" lvl="1" indent="0">
              <a:buNone/>
            </a:pPr>
            <a:r>
              <a:rPr lang="en-US" dirty="0"/>
              <a:t>… … …</a:t>
            </a:r>
          </a:p>
          <a:p>
            <a:pPr marL="400050" lvl="1" indent="0">
              <a:buNone/>
            </a:pPr>
            <a:r>
              <a:rPr lang="en-US" dirty="0"/>
              <a:t>… … …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48968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type-list specifies the type of exception </a:t>
            </a:r>
            <a:r>
              <a:rPr lang="en-US" dirty="0" smtClean="0"/>
              <a:t>that may </a:t>
            </a:r>
            <a:r>
              <a:rPr lang="en-US" dirty="0"/>
              <a:t>be thrown.</a:t>
            </a:r>
          </a:p>
          <a:p>
            <a:r>
              <a:rPr lang="en-US" dirty="0"/>
              <a:t> Throwing any other kind of exception will </a:t>
            </a:r>
            <a:r>
              <a:rPr lang="en-US" dirty="0" smtClean="0"/>
              <a:t>cause abnormal </a:t>
            </a:r>
            <a:r>
              <a:rPr lang="en-US" dirty="0"/>
              <a:t>program termination.</a:t>
            </a:r>
          </a:p>
          <a:p>
            <a:r>
              <a:rPr lang="en-US" dirty="0"/>
              <a:t> If you want to prevent a function from throwing </a:t>
            </a:r>
            <a:r>
              <a:rPr lang="en-US" dirty="0" smtClean="0"/>
              <a:t>any exception</a:t>
            </a:r>
            <a:r>
              <a:rPr lang="en-US" dirty="0"/>
              <a:t>, you may do so by making the </a:t>
            </a:r>
            <a:r>
              <a:rPr lang="en-US" dirty="0" smtClean="0"/>
              <a:t>type-list empty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269676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4427992" cy="49685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//demonstrates how we can restrict a function to throw only certain types and not all.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void test(</a:t>
            </a:r>
            <a:r>
              <a:rPr lang="en-US" dirty="0" err="1" smtClean="0"/>
              <a:t>int</a:t>
            </a:r>
            <a:r>
              <a:rPr lang="en-US" dirty="0" smtClean="0"/>
              <a:t> x) throw(</a:t>
            </a:r>
            <a:r>
              <a:rPr lang="en-US" dirty="0" err="1" smtClean="0"/>
              <a:t>char,double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if(x==0)</a:t>
            </a:r>
          </a:p>
          <a:p>
            <a:pPr marL="0" indent="0">
              <a:buNone/>
            </a:pPr>
            <a:r>
              <a:rPr lang="en-US" dirty="0"/>
              <a:t>    throw 'x'; //char</a:t>
            </a:r>
          </a:p>
          <a:p>
            <a:pPr marL="0" indent="0">
              <a:buNone/>
            </a:pPr>
            <a:r>
              <a:rPr lang="en-US" dirty="0"/>
              <a:t> else  </a:t>
            </a:r>
          </a:p>
          <a:p>
            <a:pPr marL="0" indent="0">
              <a:buNone/>
            </a:pPr>
            <a:r>
              <a:rPr lang="en-US" dirty="0"/>
              <a:t>  if(x==1)</a:t>
            </a:r>
          </a:p>
          <a:p>
            <a:pPr marL="0" indent="0">
              <a:buNone/>
            </a:pPr>
            <a:r>
              <a:rPr lang="en-US" dirty="0"/>
              <a:t>    throw x;  //</a:t>
            </a:r>
            <a:r>
              <a:rPr lang="en-US" dirty="0" err="1"/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else  </a:t>
            </a:r>
          </a:p>
          <a:p>
            <a:pPr marL="0" indent="0">
              <a:buNone/>
            </a:pPr>
            <a:r>
              <a:rPr lang="en-US" dirty="0"/>
              <a:t>  if(x==-1)</a:t>
            </a:r>
          </a:p>
          <a:p>
            <a:pPr marL="0" indent="0">
              <a:buNone/>
            </a:pPr>
            <a:r>
              <a:rPr lang="en-US" dirty="0"/>
              <a:t>    throw 1.0;  //double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0032" y="1196752"/>
            <a:ext cx="4572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 smtClean="0"/>
              <a:t>{ </a:t>
            </a:r>
            <a:r>
              <a:rPr lang="en-US" dirty="0"/>
              <a:t>try{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&lt;&lt;"Testing throw restrictions \n";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&lt;&lt;"x==0\n";</a:t>
            </a:r>
          </a:p>
          <a:p>
            <a:r>
              <a:rPr lang="en-US" dirty="0"/>
              <a:t>      test(0);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&lt;&lt;"x==1\n";</a:t>
            </a:r>
          </a:p>
          <a:p>
            <a:r>
              <a:rPr lang="en-US" dirty="0"/>
              <a:t>      test(1);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&lt;&lt;"x==-1\n";</a:t>
            </a:r>
          </a:p>
          <a:p>
            <a:r>
              <a:rPr lang="en-US" dirty="0"/>
              <a:t>      test(-1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&lt;&lt;"x==2\n";</a:t>
            </a:r>
          </a:p>
          <a:p>
            <a:r>
              <a:rPr lang="en-US" dirty="0"/>
              <a:t>      test(2</a:t>
            </a:r>
            <a:r>
              <a:rPr lang="en-US" dirty="0" smtClean="0"/>
              <a:t>);}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smtClean="0"/>
              <a:t> </a:t>
            </a:r>
            <a:r>
              <a:rPr lang="en-US" dirty="0"/>
              <a:t>catch(char c)</a:t>
            </a:r>
          </a:p>
          <a:p>
            <a:r>
              <a:rPr lang="en-US" dirty="0"/>
              <a:t>{ </a:t>
            </a:r>
            <a:r>
              <a:rPr lang="en-US" dirty="0" err="1"/>
              <a:t>cout</a:t>
            </a:r>
            <a:r>
              <a:rPr lang="en-US" dirty="0"/>
              <a:t>&lt;&lt;"caught a character\n</a:t>
            </a:r>
            <a:r>
              <a:rPr lang="en-US" dirty="0" smtClean="0"/>
              <a:t>";}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catch(</a:t>
            </a:r>
            <a:r>
              <a:rPr lang="en-US" dirty="0" err="1"/>
              <a:t>int</a:t>
            </a:r>
            <a:r>
              <a:rPr lang="en-US" dirty="0"/>
              <a:t> m)</a:t>
            </a:r>
          </a:p>
          <a:p>
            <a:r>
              <a:rPr lang="en-US" dirty="0"/>
              <a:t>{ </a:t>
            </a:r>
            <a:r>
              <a:rPr lang="en-US" dirty="0" err="1"/>
              <a:t>cout</a:t>
            </a:r>
            <a:r>
              <a:rPr lang="en-US" dirty="0"/>
              <a:t>&lt;&lt;"caught an integer\n</a:t>
            </a:r>
            <a:r>
              <a:rPr lang="en-US" dirty="0" smtClean="0"/>
              <a:t>";}</a:t>
            </a:r>
            <a:endParaRPr lang="en-US" dirty="0"/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catch(double </a:t>
            </a:r>
            <a:r>
              <a:rPr lang="en-US" dirty="0"/>
              <a:t>d)</a:t>
            </a:r>
          </a:p>
          <a:p>
            <a:r>
              <a:rPr lang="en-US" dirty="0"/>
              <a:t>{ </a:t>
            </a:r>
            <a:r>
              <a:rPr lang="en-US" dirty="0" err="1"/>
              <a:t>cout</a:t>
            </a:r>
            <a:r>
              <a:rPr lang="en-US" dirty="0"/>
              <a:t>&lt;&lt;"caught a double\n</a:t>
            </a:r>
            <a:r>
              <a:rPr lang="en-US" dirty="0" smtClean="0"/>
              <a:t>";}</a:t>
            </a:r>
            <a:endParaRPr lang="en-US" dirty="0"/>
          </a:p>
          <a:p>
            <a:r>
              <a:rPr lang="en-US" dirty="0" smtClean="0"/>
              <a:t>return </a:t>
            </a:r>
            <a:r>
              <a:rPr lang="en-US" dirty="0"/>
              <a:t>0</a:t>
            </a:r>
            <a:r>
              <a:rPr lang="en-US" dirty="0" smtClean="0"/>
              <a:t>;}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146032" y="2276872"/>
            <a:ext cx="208823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Output</a:t>
            </a:r>
            <a:r>
              <a:rPr lang="en-US" dirty="0" smtClean="0"/>
              <a:t>:</a:t>
            </a:r>
          </a:p>
          <a:p>
            <a:r>
              <a:rPr lang="en-US" dirty="0"/>
              <a:t>Testing throw restrictions x==0 caught a character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8468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9" y="130280"/>
            <a:ext cx="9000000" cy="135450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// 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C++, try-catch blocks can be nested.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4788032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include &lt;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try 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try  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throw 20;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catch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n) 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"Handle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Partially\n";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throw;   //Re-throwing an exception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2040" y="1772816"/>
            <a:ext cx="403244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n) 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"Handle remaining ";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return 0;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0152" y="3613666"/>
            <a:ext cx="2088232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Output</a:t>
            </a:r>
            <a:r>
              <a:rPr lang="en-US" dirty="0" smtClean="0"/>
              <a:t>:</a:t>
            </a:r>
          </a:p>
          <a:p>
            <a:r>
              <a:rPr lang="en-US" dirty="0"/>
              <a:t>Handle Partially Handle remaining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1092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600" b="1" u="sng" dirty="0" smtClean="0">
                <a:latin typeface="Times New Roman" pitchFamily="18" charset="0"/>
                <a:cs typeface="Times New Roman" pitchFamily="18" charset="0"/>
              </a:rPr>
              <a:t>Important: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an exception is thrown, all objects created inside the enclosing try block are destructed before the control is transferred to catch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00" y="1643050"/>
            <a:ext cx="9000000" cy="4968552"/>
          </a:xfrm>
        </p:spPr>
        <p:txBody>
          <a:bodyPr>
            <a:normAutofit fontScale="25000" lnSpcReduction="20000"/>
          </a:bodyPr>
          <a:lstStyle/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class Test {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public: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 Test() {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&lt;&lt; "Constructor of Test " &lt;&lt;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~Test() {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&lt;&lt; "Destructor of Test "  &lt;&lt;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 fontAlgn="base">
              <a:buNone/>
            </a:pP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main() {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try {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  Test t1;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  throw 10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8000" dirty="0">
              <a:latin typeface="Times New Roman" pitchFamily="18" charset="0"/>
              <a:cs typeface="Times New Roman" pitchFamily="18" charset="0"/>
            </a:endParaRP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} catch(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i) {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  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&lt;&lt; "Caught " &lt;&lt; i &lt;&lt;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}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40152" y="3613666"/>
            <a:ext cx="208823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Output</a:t>
            </a:r>
            <a:r>
              <a:rPr lang="en-US" dirty="0" smtClean="0"/>
              <a:t>:</a:t>
            </a:r>
          </a:p>
          <a:p>
            <a:r>
              <a:rPr lang="en-US" dirty="0"/>
              <a:t>Constructor of Test Destructor of Test Caught 10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0764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1939</TotalTime>
  <Words>2434</Words>
  <Application>Microsoft Office PowerPoint</Application>
  <PresentationFormat>On-screen Show (4:3)</PresentationFormat>
  <Paragraphs>537</Paragraphs>
  <Slides>41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EXCEPTION HANDLING</vt:lpstr>
      <vt:lpstr>EXCEPTIONS </vt:lpstr>
      <vt:lpstr>EXCEPTIONS</vt:lpstr>
      <vt:lpstr>Exception Handling</vt:lpstr>
      <vt:lpstr> Exception handling mechanism </vt:lpstr>
      <vt:lpstr>Try-catch organizes the code</vt:lpstr>
      <vt:lpstr>Exception thrown and caught</vt:lpstr>
      <vt:lpstr>Syntax of exception handling</vt:lpstr>
      <vt:lpstr>Slide 9</vt:lpstr>
      <vt:lpstr>Output</vt:lpstr>
      <vt:lpstr>Slide 11</vt:lpstr>
      <vt:lpstr>Output</vt:lpstr>
      <vt:lpstr>Slide 13</vt:lpstr>
      <vt:lpstr>Output</vt:lpstr>
      <vt:lpstr> Exception handling mechanism </vt:lpstr>
      <vt:lpstr> Exception handling mechanism </vt:lpstr>
      <vt:lpstr>Example</vt:lpstr>
      <vt:lpstr>Exception Handling</vt:lpstr>
      <vt:lpstr>Exception Handling</vt:lpstr>
      <vt:lpstr>Example</vt:lpstr>
      <vt:lpstr>Exception Handling</vt:lpstr>
      <vt:lpstr> // The try block is immediately followed by the catch block, irrespective of the location of throw point </vt:lpstr>
      <vt:lpstr>THROWING MECHANISM</vt:lpstr>
      <vt:lpstr>THROWING MECHANISM</vt:lpstr>
      <vt:lpstr>CATCHING MECHANISM</vt:lpstr>
      <vt:lpstr>CATCHING MECHANISM</vt:lpstr>
      <vt:lpstr>CATCHING MECHANISM </vt:lpstr>
      <vt:lpstr>Class type Example</vt:lpstr>
      <vt:lpstr>Handling Derived-Class Exceptions</vt:lpstr>
      <vt:lpstr>Example</vt:lpstr>
      <vt:lpstr>Multiple catch statements</vt:lpstr>
      <vt:lpstr>Example(Multiple catches)</vt:lpstr>
      <vt:lpstr>Catching All Exceptions </vt:lpstr>
      <vt:lpstr>Catching All Exceptions </vt:lpstr>
      <vt:lpstr>RETHROWING AN EXCEPTION</vt:lpstr>
      <vt:lpstr> Example of "rethrowing" an exception.</vt:lpstr>
      <vt:lpstr>SPECIFYING EXCEPTION</vt:lpstr>
      <vt:lpstr>SPECIFYING EXCEPTION</vt:lpstr>
      <vt:lpstr>Example</vt:lpstr>
      <vt:lpstr>// In C++, try-catch blocks can be nested. </vt:lpstr>
      <vt:lpstr>Important: When an exception is thrown, all objects created inside the enclosing try block are destructed before the control is transferred to catch block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</dc:title>
  <dc:creator>hp</dc:creator>
  <cp:lastModifiedBy>Ravneet</cp:lastModifiedBy>
  <cp:revision>120</cp:revision>
  <dcterms:created xsi:type="dcterms:W3CDTF">2016-10-04T09:33:42Z</dcterms:created>
  <dcterms:modified xsi:type="dcterms:W3CDTF">2024-11-05T06:27:05Z</dcterms:modified>
</cp:coreProperties>
</file>